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4" r:id="rId7"/>
    <p:sldId id="272" r:id="rId8"/>
    <p:sldId id="261" r:id="rId9"/>
    <p:sldId id="262" r:id="rId10"/>
    <p:sldId id="263" r:id="rId11"/>
    <p:sldId id="265" r:id="rId12"/>
    <p:sldId id="266" r:id="rId13"/>
    <p:sldId id="267" r:id="rId14"/>
    <p:sldId id="273" r:id="rId15"/>
    <p:sldId id="268" r:id="rId16"/>
    <p:sldId id="269" r:id="rId17"/>
    <p:sldId id="270" r:id="rId18"/>
    <p:sldId id="271" r:id="rId19"/>
  </p:sldIdLst>
  <p:sldSz cx="18288000" cy="10287000"/>
  <p:notesSz cx="6858000" cy="9144000"/>
  <p:embeddedFontLst>
    <p:embeddedFont>
      <p:font typeface="Open Sauce Bold" panose="020B0604020202020204" charset="0"/>
      <p:regular r:id="rId20"/>
    </p:embeddedFont>
    <p:embeddedFont>
      <p:font typeface="DM Sans Bold" panose="020B0604020202020204" charset="0"/>
      <p:regular r:id="rId21"/>
    </p:embeddedFont>
    <p:embeddedFont>
      <p:font typeface="DM Sans" panose="020B0604020202020204" charset="0"/>
      <p:regular r:id="rId22"/>
    </p:embeddedFont>
    <p:embeddedFont>
      <p:font typeface="Oswald Bold" panose="020B0604020202020204" charset="0"/>
      <p:regular r:id="rId23"/>
    </p:embeddedFont>
    <p:embeddedFont>
      <p:font typeface="Open Sauce" panose="020B0604020202020204" charset="0"/>
      <p:regular r:id="rId24"/>
    </p:embeddedFont>
    <p:embeddedFont>
      <p:font typeface="Calibri" panose="020F0502020204030204" pitchFamily="34" charset="0"/>
      <p:regular r:id="rId25"/>
      <p:bold r:id="rId26"/>
      <p:italic r:id="rId27"/>
      <p:boldItalic r:id="rId28"/>
    </p:embeddedFont>
    <p:embeddedFont>
      <p:font typeface="DM Sans Italics" panose="020B0604020202020204" charset="0"/>
      <p:regular r:id="rId29"/>
    </p:embeddedFont>
    <p:embeddedFont>
      <p:font typeface="Alice Bold" panose="020B0604020202020204" charset="0"/>
      <p:regular r:id="rId30"/>
    </p:embeddedFont>
    <p:embeddedFont>
      <p:font typeface="Canva Sans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12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17.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7659121">
            <a:off x="15091031"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a:off x="-3258071" y="-4629150"/>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5" name="Group 5"/>
          <p:cNvGrpSpPr/>
          <p:nvPr/>
        </p:nvGrpSpPr>
        <p:grpSpPr>
          <a:xfrm>
            <a:off x="4236347" y="3202251"/>
            <a:ext cx="9815307" cy="4208864"/>
            <a:chOff x="0" y="0"/>
            <a:chExt cx="1895495" cy="812800"/>
          </a:xfrm>
        </p:grpSpPr>
        <p:sp>
          <p:nvSpPr>
            <p:cNvPr id="6" name="Freeform 6"/>
            <p:cNvSpPr/>
            <p:nvPr/>
          </p:nvSpPr>
          <p:spPr>
            <a:xfrm>
              <a:off x="0" y="0"/>
              <a:ext cx="1895495" cy="812800"/>
            </a:xfrm>
            <a:custGeom>
              <a:avLst/>
              <a:gdLst/>
              <a:ahLst/>
              <a:cxnLst/>
              <a:rect l="l" t="t" r="r" b="b"/>
              <a:pathLst>
                <a:path w="1895495" h="812800">
                  <a:moveTo>
                    <a:pt x="0" y="0"/>
                  </a:moveTo>
                  <a:lnTo>
                    <a:pt x="1895495" y="0"/>
                  </a:lnTo>
                  <a:lnTo>
                    <a:pt x="1895495" y="812800"/>
                  </a:lnTo>
                  <a:lnTo>
                    <a:pt x="0" y="812800"/>
                  </a:lnTo>
                  <a:close/>
                </a:path>
              </a:pathLst>
            </a:custGeom>
            <a:solidFill>
              <a:srgbClr val="000000">
                <a:alpha val="0"/>
              </a:srgbClr>
            </a:solidFill>
            <a:ln w="38100" cap="sq">
              <a:solidFill>
                <a:srgbClr val="000000"/>
              </a:solidFill>
              <a:prstDash val="solid"/>
              <a:miter/>
            </a:ln>
          </p:spPr>
        </p:sp>
        <p:sp>
          <p:nvSpPr>
            <p:cNvPr id="7" name="TextBox 7"/>
            <p:cNvSpPr txBox="1"/>
            <p:nvPr/>
          </p:nvSpPr>
          <p:spPr>
            <a:xfrm>
              <a:off x="0" y="-19050"/>
              <a:ext cx="1895495" cy="831850"/>
            </a:xfrm>
            <a:prstGeom prst="rect">
              <a:avLst/>
            </a:prstGeom>
          </p:spPr>
          <p:txBody>
            <a:bodyPr lIns="50800" tIns="50800" rIns="50800" bIns="50800" rtlCol="0" anchor="ctr"/>
            <a:lstStyle/>
            <a:p>
              <a:pPr algn="ctr">
                <a:lnSpc>
                  <a:spcPts val="2859"/>
                </a:lnSpc>
              </a:pPr>
              <a:endParaRPr/>
            </a:p>
          </p:txBody>
        </p:sp>
      </p:grpSp>
      <p:sp>
        <p:nvSpPr>
          <p:cNvPr id="8" name="TextBox 8"/>
          <p:cNvSpPr txBox="1"/>
          <p:nvPr/>
        </p:nvSpPr>
        <p:spPr>
          <a:xfrm>
            <a:off x="8004773" y="6138891"/>
            <a:ext cx="6046881" cy="898580"/>
          </a:xfrm>
          <a:prstGeom prst="rect">
            <a:avLst/>
          </a:prstGeom>
        </p:spPr>
        <p:txBody>
          <a:bodyPr lIns="0" tIns="0" rIns="0" bIns="0" rtlCol="0" anchor="t">
            <a:spAutoFit/>
          </a:bodyPr>
          <a:lstStyle/>
          <a:p>
            <a:pPr algn="ctr">
              <a:lnSpc>
                <a:spcPts val="7280"/>
              </a:lnSpc>
            </a:pPr>
            <a:r>
              <a:rPr lang="en-US" sz="5275" spc="516">
                <a:solidFill>
                  <a:srgbClr val="231F20"/>
                </a:solidFill>
                <a:latin typeface="Alice Bold"/>
              </a:rPr>
              <a:t>-VARUN DAS</a:t>
            </a:r>
          </a:p>
        </p:txBody>
      </p:sp>
      <p:sp>
        <p:nvSpPr>
          <p:cNvPr id="9" name="TextBox 9"/>
          <p:cNvSpPr txBox="1"/>
          <p:nvPr/>
        </p:nvSpPr>
        <p:spPr>
          <a:xfrm>
            <a:off x="3780930" y="3361509"/>
            <a:ext cx="10270724" cy="2420983"/>
          </a:xfrm>
          <a:prstGeom prst="rect">
            <a:avLst/>
          </a:prstGeom>
        </p:spPr>
        <p:txBody>
          <a:bodyPr lIns="0" tIns="0" rIns="0" bIns="0" rtlCol="0" anchor="t">
            <a:spAutoFit/>
          </a:bodyPr>
          <a:lstStyle/>
          <a:p>
            <a:pPr algn="ctr">
              <a:lnSpc>
                <a:spcPts val="9748"/>
              </a:lnSpc>
            </a:pPr>
            <a:r>
              <a:rPr lang="en-US" sz="7063" spc="692">
                <a:solidFill>
                  <a:srgbClr val="231F20"/>
                </a:solidFill>
                <a:latin typeface="Oswald Bold"/>
              </a:rPr>
              <a:t>CAR PRICE PREDICTION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a:off x="12111940" y="1240955"/>
            <a:ext cx="6176060" cy="8208697"/>
          </a:xfrm>
          <a:custGeom>
            <a:avLst/>
            <a:gdLst/>
            <a:ahLst/>
            <a:cxnLst/>
            <a:rect l="l" t="t" r="r" b="b"/>
            <a:pathLst>
              <a:path w="6176060" h="8208697">
                <a:moveTo>
                  <a:pt x="0" y="0"/>
                </a:moveTo>
                <a:lnTo>
                  <a:pt x="6176060" y="0"/>
                </a:lnTo>
                <a:lnTo>
                  <a:pt x="6176060" y="8208697"/>
                </a:lnTo>
                <a:lnTo>
                  <a:pt x="0" y="8208697"/>
                </a:lnTo>
                <a:lnTo>
                  <a:pt x="0" y="0"/>
                </a:lnTo>
                <a:close/>
              </a:path>
            </a:pathLst>
          </a:custGeom>
          <a:blipFill>
            <a:blip r:embed="rId3"/>
            <a:stretch>
              <a:fillRect l="-10509" r="-27640"/>
            </a:stretch>
          </a:blipFill>
        </p:spPr>
      </p:sp>
      <p:sp>
        <p:nvSpPr>
          <p:cNvPr id="4" name="Freeform 4"/>
          <p:cNvSpPr/>
          <p:nvPr/>
        </p:nvSpPr>
        <p:spPr>
          <a:xfrm>
            <a:off x="2142191" y="4828880"/>
            <a:ext cx="9752965" cy="1032847"/>
          </a:xfrm>
          <a:custGeom>
            <a:avLst/>
            <a:gdLst/>
            <a:ahLst/>
            <a:cxnLst/>
            <a:rect l="l" t="t" r="r" b="b"/>
            <a:pathLst>
              <a:path w="9752965" h="1032847">
                <a:moveTo>
                  <a:pt x="0" y="0"/>
                </a:moveTo>
                <a:lnTo>
                  <a:pt x="9752965" y="0"/>
                </a:lnTo>
                <a:lnTo>
                  <a:pt x="9752965" y="1032847"/>
                </a:lnTo>
                <a:lnTo>
                  <a:pt x="0" y="1032847"/>
                </a:lnTo>
                <a:lnTo>
                  <a:pt x="0" y="0"/>
                </a:lnTo>
                <a:close/>
              </a:path>
            </a:pathLst>
          </a:custGeom>
          <a:blipFill>
            <a:blip r:embed="rId4"/>
            <a:stretch>
              <a:fillRect t="-86495"/>
            </a:stretch>
          </a:blipFill>
        </p:spPr>
      </p:sp>
      <p:grpSp>
        <p:nvGrpSpPr>
          <p:cNvPr id="5" name="Group 5"/>
          <p:cNvGrpSpPr/>
          <p:nvPr/>
        </p:nvGrpSpPr>
        <p:grpSpPr>
          <a:xfrm>
            <a:off x="2142191" y="4260181"/>
            <a:ext cx="9610044" cy="1948998"/>
            <a:chOff x="0" y="0"/>
            <a:chExt cx="3682024" cy="746746"/>
          </a:xfrm>
        </p:grpSpPr>
        <p:sp>
          <p:nvSpPr>
            <p:cNvPr id="6" name="Freeform 6"/>
            <p:cNvSpPr/>
            <p:nvPr/>
          </p:nvSpPr>
          <p:spPr>
            <a:xfrm>
              <a:off x="0" y="0"/>
              <a:ext cx="3682024" cy="746746"/>
            </a:xfrm>
            <a:custGeom>
              <a:avLst/>
              <a:gdLst/>
              <a:ahLst/>
              <a:cxnLst/>
              <a:rect l="l" t="t" r="r" b="b"/>
              <a:pathLst>
                <a:path w="3682024" h="746746">
                  <a:moveTo>
                    <a:pt x="0" y="0"/>
                  </a:moveTo>
                  <a:lnTo>
                    <a:pt x="3682024" y="0"/>
                  </a:lnTo>
                  <a:lnTo>
                    <a:pt x="3682024" y="746746"/>
                  </a:lnTo>
                  <a:lnTo>
                    <a:pt x="0" y="746746"/>
                  </a:lnTo>
                  <a:close/>
                </a:path>
              </a:pathLst>
            </a:custGeom>
            <a:solidFill>
              <a:srgbClr val="EFEFEF"/>
            </a:solidFill>
          </p:spPr>
        </p:sp>
        <p:sp>
          <p:nvSpPr>
            <p:cNvPr id="7" name="TextBox 7"/>
            <p:cNvSpPr txBox="1"/>
            <p:nvPr/>
          </p:nvSpPr>
          <p:spPr>
            <a:xfrm>
              <a:off x="0" y="-19050"/>
              <a:ext cx="3682024" cy="765796"/>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2367078" y="4647820"/>
            <a:ext cx="1156649" cy="1173721"/>
          </a:xfrm>
          <a:custGeom>
            <a:avLst/>
            <a:gdLst/>
            <a:ahLst/>
            <a:cxnLst/>
            <a:rect l="l" t="t" r="r" b="b"/>
            <a:pathLst>
              <a:path w="1156649" h="1173721">
                <a:moveTo>
                  <a:pt x="0" y="0"/>
                </a:moveTo>
                <a:lnTo>
                  <a:pt x="1156649" y="0"/>
                </a:lnTo>
                <a:lnTo>
                  <a:pt x="1156649" y="1173721"/>
                </a:lnTo>
                <a:lnTo>
                  <a:pt x="0" y="1173721"/>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Freeform 9"/>
          <p:cNvSpPr/>
          <p:nvPr/>
        </p:nvSpPr>
        <p:spPr>
          <a:xfrm>
            <a:off x="2142191" y="7210022"/>
            <a:ext cx="9752965" cy="1032847"/>
          </a:xfrm>
          <a:custGeom>
            <a:avLst/>
            <a:gdLst/>
            <a:ahLst/>
            <a:cxnLst/>
            <a:rect l="l" t="t" r="r" b="b"/>
            <a:pathLst>
              <a:path w="9752965" h="1032847">
                <a:moveTo>
                  <a:pt x="0" y="0"/>
                </a:moveTo>
                <a:lnTo>
                  <a:pt x="9752965" y="0"/>
                </a:lnTo>
                <a:lnTo>
                  <a:pt x="9752965" y="1032847"/>
                </a:lnTo>
                <a:lnTo>
                  <a:pt x="0" y="1032847"/>
                </a:lnTo>
                <a:lnTo>
                  <a:pt x="0" y="0"/>
                </a:lnTo>
                <a:close/>
              </a:path>
            </a:pathLst>
          </a:custGeom>
          <a:blipFill>
            <a:blip r:embed="rId4"/>
            <a:stretch>
              <a:fillRect t="-86495"/>
            </a:stretch>
          </a:blipFill>
        </p:spPr>
      </p:sp>
      <p:sp>
        <p:nvSpPr>
          <p:cNvPr id="10" name="Freeform 10"/>
          <p:cNvSpPr/>
          <p:nvPr/>
        </p:nvSpPr>
        <p:spPr>
          <a:xfrm>
            <a:off x="-2779578" y="7341318"/>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1" name="TextBox 11"/>
          <p:cNvSpPr txBox="1"/>
          <p:nvPr/>
        </p:nvSpPr>
        <p:spPr>
          <a:xfrm>
            <a:off x="0" y="828482"/>
            <a:ext cx="10758785" cy="1358347"/>
          </a:xfrm>
          <a:prstGeom prst="rect">
            <a:avLst/>
          </a:prstGeom>
        </p:spPr>
        <p:txBody>
          <a:bodyPr lIns="0" tIns="0" rIns="0" bIns="0" rtlCol="0" anchor="t">
            <a:spAutoFit/>
          </a:bodyPr>
          <a:lstStyle/>
          <a:p>
            <a:pPr>
              <a:lnSpc>
                <a:spcPts val="11150"/>
              </a:lnSpc>
            </a:pPr>
            <a:r>
              <a:rPr lang="en-US" sz="8079" spc="791">
                <a:solidFill>
                  <a:srgbClr val="231F20"/>
                </a:solidFill>
                <a:latin typeface="Oswald Bold"/>
              </a:rPr>
              <a:t>PROBLEM STATEMENT</a:t>
            </a:r>
          </a:p>
        </p:txBody>
      </p:sp>
      <p:sp>
        <p:nvSpPr>
          <p:cNvPr id="12" name="TextBox 12"/>
          <p:cNvSpPr txBox="1"/>
          <p:nvPr/>
        </p:nvSpPr>
        <p:spPr>
          <a:xfrm>
            <a:off x="4069634" y="4394314"/>
            <a:ext cx="7132181" cy="1633109"/>
          </a:xfrm>
          <a:prstGeom prst="rect">
            <a:avLst/>
          </a:prstGeom>
        </p:spPr>
        <p:txBody>
          <a:bodyPr lIns="0" tIns="0" rIns="0" bIns="0" rtlCol="0" anchor="t">
            <a:spAutoFit/>
          </a:bodyPr>
          <a:lstStyle/>
          <a:p>
            <a:pPr>
              <a:lnSpc>
                <a:spcPts val="3050"/>
              </a:lnSpc>
            </a:pPr>
            <a:endParaRPr/>
          </a:p>
          <a:p>
            <a:pPr marL="0" lvl="0" indent="0" algn="l">
              <a:lnSpc>
                <a:spcPts val="3326"/>
              </a:lnSpc>
              <a:spcBef>
                <a:spcPct val="0"/>
              </a:spcBef>
            </a:pPr>
            <a:r>
              <a:rPr lang="en-US" sz="2410" spc="236">
                <a:solidFill>
                  <a:srgbClr val="231F20"/>
                </a:solidFill>
                <a:latin typeface="DM Sans Bold"/>
              </a:rPr>
              <a:t>Develop a machine learning model that can accurately predict the price of used cars.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4" name="Group 4"/>
          <p:cNvGrpSpPr/>
          <p:nvPr/>
        </p:nvGrpSpPr>
        <p:grpSpPr>
          <a:xfrm>
            <a:off x="4307509" y="2472955"/>
            <a:ext cx="3995144" cy="831493"/>
            <a:chOff x="0" y="0"/>
            <a:chExt cx="1052219" cy="218994"/>
          </a:xfrm>
        </p:grpSpPr>
        <p:sp>
          <p:nvSpPr>
            <p:cNvPr id="5" name="Freeform 5"/>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6" name="TextBox 6"/>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DATA GATHERING</a:t>
              </a:r>
            </a:p>
          </p:txBody>
        </p:sp>
      </p:grpSp>
      <p:grpSp>
        <p:nvGrpSpPr>
          <p:cNvPr id="7" name="Group 7"/>
          <p:cNvGrpSpPr/>
          <p:nvPr/>
        </p:nvGrpSpPr>
        <p:grpSpPr>
          <a:xfrm>
            <a:off x="9291265" y="4312007"/>
            <a:ext cx="3995144" cy="831493"/>
            <a:chOff x="0" y="0"/>
            <a:chExt cx="1052219" cy="218994"/>
          </a:xfrm>
        </p:grpSpPr>
        <p:sp>
          <p:nvSpPr>
            <p:cNvPr id="8" name="Freeform 8"/>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9" name="TextBox 9"/>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BASIC MODEL</a:t>
              </a:r>
            </a:p>
          </p:txBody>
        </p:sp>
      </p:grpSp>
      <p:grpSp>
        <p:nvGrpSpPr>
          <p:cNvPr id="10" name="Group 10"/>
          <p:cNvGrpSpPr/>
          <p:nvPr/>
        </p:nvGrpSpPr>
        <p:grpSpPr>
          <a:xfrm>
            <a:off x="4307509" y="4297310"/>
            <a:ext cx="3995144" cy="831493"/>
            <a:chOff x="0" y="0"/>
            <a:chExt cx="1052219" cy="218994"/>
          </a:xfrm>
        </p:grpSpPr>
        <p:sp>
          <p:nvSpPr>
            <p:cNvPr id="11" name="Freeform 11"/>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12" name="TextBox 12"/>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VISUALIZATION</a:t>
              </a:r>
            </a:p>
          </p:txBody>
        </p:sp>
      </p:grpSp>
      <p:grpSp>
        <p:nvGrpSpPr>
          <p:cNvPr id="13" name="Group 13"/>
          <p:cNvGrpSpPr/>
          <p:nvPr/>
        </p:nvGrpSpPr>
        <p:grpSpPr>
          <a:xfrm>
            <a:off x="9291265" y="6093729"/>
            <a:ext cx="3995144" cy="831493"/>
            <a:chOff x="0" y="0"/>
            <a:chExt cx="1052219" cy="218994"/>
          </a:xfrm>
        </p:grpSpPr>
        <p:sp>
          <p:nvSpPr>
            <p:cNvPr id="14" name="Freeform 14"/>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15" name="TextBox 15"/>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MODEL</a:t>
              </a:r>
            </a:p>
          </p:txBody>
        </p:sp>
      </p:grpSp>
      <p:grpSp>
        <p:nvGrpSpPr>
          <p:cNvPr id="16" name="Group 16"/>
          <p:cNvGrpSpPr/>
          <p:nvPr/>
        </p:nvGrpSpPr>
        <p:grpSpPr>
          <a:xfrm>
            <a:off x="4307509" y="6093729"/>
            <a:ext cx="3995144" cy="831493"/>
            <a:chOff x="0" y="0"/>
            <a:chExt cx="1052219" cy="218994"/>
          </a:xfrm>
        </p:grpSpPr>
        <p:sp>
          <p:nvSpPr>
            <p:cNvPr id="17" name="Freeform 17"/>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18" name="TextBox 18"/>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OUTLIER TREATMENT</a:t>
              </a:r>
            </a:p>
          </p:txBody>
        </p:sp>
      </p:grpSp>
      <p:grpSp>
        <p:nvGrpSpPr>
          <p:cNvPr id="19" name="Group 19"/>
          <p:cNvGrpSpPr/>
          <p:nvPr/>
        </p:nvGrpSpPr>
        <p:grpSpPr>
          <a:xfrm>
            <a:off x="9291265" y="7913835"/>
            <a:ext cx="3995144" cy="831493"/>
            <a:chOff x="0" y="0"/>
            <a:chExt cx="1052219" cy="218994"/>
          </a:xfrm>
        </p:grpSpPr>
        <p:sp>
          <p:nvSpPr>
            <p:cNvPr id="20" name="Freeform 20"/>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21" name="TextBox 21"/>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FEATURE SELECTION</a:t>
              </a:r>
            </a:p>
          </p:txBody>
        </p:sp>
      </p:grpSp>
      <p:grpSp>
        <p:nvGrpSpPr>
          <p:cNvPr id="22" name="Group 22"/>
          <p:cNvGrpSpPr/>
          <p:nvPr/>
        </p:nvGrpSpPr>
        <p:grpSpPr>
          <a:xfrm>
            <a:off x="9291265" y="2491900"/>
            <a:ext cx="3995144" cy="831493"/>
            <a:chOff x="0" y="0"/>
            <a:chExt cx="1052219" cy="218994"/>
          </a:xfrm>
        </p:grpSpPr>
        <p:sp>
          <p:nvSpPr>
            <p:cNvPr id="23" name="Freeform 23"/>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24" name="TextBox 24"/>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DATA CLEANING</a:t>
              </a:r>
            </a:p>
          </p:txBody>
        </p:sp>
      </p:grpSp>
      <p:grpSp>
        <p:nvGrpSpPr>
          <p:cNvPr id="25" name="Group 25"/>
          <p:cNvGrpSpPr/>
          <p:nvPr/>
        </p:nvGrpSpPr>
        <p:grpSpPr>
          <a:xfrm rot="-5400000">
            <a:off x="10794531" y="3429398"/>
            <a:ext cx="988613" cy="776604"/>
            <a:chOff x="0" y="0"/>
            <a:chExt cx="647285" cy="508474"/>
          </a:xfrm>
        </p:grpSpPr>
        <p:sp>
          <p:nvSpPr>
            <p:cNvPr id="26" name="Freeform 26"/>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27" name="TextBox 27"/>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sp>
        <p:nvSpPr>
          <p:cNvPr id="28" name="TextBox 28"/>
          <p:cNvSpPr txBox="1"/>
          <p:nvPr/>
        </p:nvSpPr>
        <p:spPr>
          <a:xfrm>
            <a:off x="3721899" y="-171450"/>
            <a:ext cx="10069074" cy="1683727"/>
          </a:xfrm>
          <a:prstGeom prst="rect">
            <a:avLst/>
          </a:prstGeom>
        </p:spPr>
        <p:txBody>
          <a:bodyPr lIns="0" tIns="0" rIns="0" bIns="0" rtlCol="0" anchor="t">
            <a:spAutoFit/>
          </a:bodyPr>
          <a:lstStyle/>
          <a:p>
            <a:pPr algn="ctr">
              <a:lnSpc>
                <a:spcPts val="13774"/>
              </a:lnSpc>
            </a:pPr>
            <a:r>
              <a:rPr lang="en-US" sz="9981" spc="978">
                <a:solidFill>
                  <a:srgbClr val="231F20"/>
                </a:solidFill>
                <a:latin typeface="Oswald Bold"/>
              </a:rPr>
              <a:t>PROJECT FLOW</a:t>
            </a:r>
          </a:p>
        </p:txBody>
      </p:sp>
      <p:grpSp>
        <p:nvGrpSpPr>
          <p:cNvPr id="29" name="Group 29"/>
          <p:cNvGrpSpPr/>
          <p:nvPr/>
        </p:nvGrpSpPr>
        <p:grpSpPr>
          <a:xfrm rot="-10800000">
            <a:off x="8302652" y="2472955"/>
            <a:ext cx="988613" cy="776604"/>
            <a:chOff x="0" y="0"/>
            <a:chExt cx="647285" cy="508474"/>
          </a:xfrm>
        </p:grpSpPr>
        <p:sp>
          <p:nvSpPr>
            <p:cNvPr id="30" name="Freeform 30"/>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31" name="TextBox 31"/>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grpSp>
        <p:nvGrpSpPr>
          <p:cNvPr id="32" name="Group 32"/>
          <p:cNvGrpSpPr/>
          <p:nvPr/>
        </p:nvGrpSpPr>
        <p:grpSpPr>
          <a:xfrm rot="-5400000">
            <a:off x="5810774" y="5249504"/>
            <a:ext cx="988613" cy="776604"/>
            <a:chOff x="0" y="0"/>
            <a:chExt cx="647285" cy="508474"/>
          </a:xfrm>
        </p:grpSpPr>
        <p:sp>
          <p:nvSpPr>
            <p:cNvPr id="33" name="Freeform 33"/>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34" name="TextBox 34"/>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grpSp>
        <p:nvGrpSpPr>
          <p:cNvPr id="35" name="Group 35"/>
          <p:cNvGrpSpPr/>
          <p:nvPr/>
        </p:nvGrpSpPr>
        <p:grpSpPr>
          <a:xfrm>
            <a:off x="8302652" y="4297310"/>
            <a:ext cx="988613" cy="776604"/>
            <a:chOff x="0" y="0"/>
            <a:chExt cx="647285" cy="508474"/>
          </a:xfrm>
        </p:grpSpPr>
        <p:sp>
          <p:nvSpPr>
            <p:cNvPr id="36" name="Freeform 36"/>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37" name="TextBox 37"/>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grpSp>
        <p:nvGrpSpPr>
          <p:cNvPr id="38" name="Group 38"/>
          <p:cNvGrpSpPr/>
          <p:nvPr/>
        </p:nvGrpSpPr>
        <p:grpSpPr>
          <a:xfrm rot="-10800000">
            <a:off x="8302652" y="6093729"/>
            <a:ext cx="988613" cy="776604"/>
            <a:chOff x="0" y="0"/>
            <a:chExt cx="647285" cy="508474"/>
          </a:xfrm>
        </p:grpSpPr>
        <p:sp>
          <p:nvSpPr>
            <p:cNvPr id="39" name="Freeform 39"/>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40" name="TextBox 40"/>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grpSp>
        <p:nvGrpSpPr>
          <p:cNvPr id="41" name="Group 41"/>
          <p:cNvGrpSpPr/>
          <p:nvPr/>
        </p:nvGrpSpPr>
        <p:grpSpPr>
          <a:xfrm rot="-5400000">
            <a:off x="10794531" y="7031227"/>
            <a:ext cx="988613" cy="776604"/>
            <a:chOff x="0" y="0"/>
            <a:chExt cx="647285" cy="508474"/>
          </a:xfrm>
        </p:grpSpPr>
        <p:sp>
          <p:nvSpPr>
            <p:cNvPr id="42" name="Freeform 42"/>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43" name="TextBox 43"/>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grpSp>
        <p:nvGrpSpPr>
          <p:cNvPr id="44" name="Group 44"/>
          <p:cNvGrpSpPr/>
          <p:nvPr/>
        </p:nvGrpSpPr>
        <p:grpSpPr>
          <a:xfrm>
            <a:off x="8302652" y="7913835"/>
            <a:ext cx="988613" cy="776604"/>
            <a:chOff x="0" y="0"/>
            <a:chExt cx="647285" cy="508474"/>
          </a:xfrm>
        </p:grpSpPr>
        <p:sp>
          <p:nvSpPr>
            <p:cNvPr id="45" name="Freeform 45"/>
            <p:cNvSpPr/>
            <p:nvPr/>
          </p:nvSpPr>
          <p:spPr>
            <a:xfrm>
              <a:off x="0" y="0"/>
              <a:ext cx="647285" cy="508474"/>
            </a:xfrm>
            <a:custGeom>
              <a:avLst/>
              <a:gdLst/>
              <a:ahLst/>
              <a:cxnLst/>
              <a:rect l="l" t="t" r="r" b="b"/>
              <a:pathLst>
                <a:path w="647285" h="508474">
                  <a:moveTo>
                    <a:pt x="0" y="254237"/>
                  </a:moveTo>
                  <a:lnTo>
                    <a:pt x="406400" y="0"/>
                  </a:lnTo>
                  <a:lnTo>
                    <a:pt x="406400" y="203200"/>
                  </a:lnTo>
                  <a:lnTo>
                    <a:pt x="647285" y="203200"/>
                  </a:lnTo>
                  <a:lnTo>
                    <a:pt x="647285" y="305274"/>
                  </a:lnTo>
                  <a:lnTo>
                    <a:pt x="406400" y="305274"/>
                  </a:lnTo>
                  <a:lnTo>
                    <a:pt x="406400" y="508474"/>
                  </a:lnTo>
                  <a:lnTo>
                    <a:pt x="0" y="254237"/>
                  </a:lnTo>
                  <a:close/>
                </a:path>
              </a:pathLst>
            </a:custGeom>
            <a:solidFill>
              <a:srgbClr val="231F20"/>
            </a:solidFill>
          </p:spPr>
        </p:sp>
        <p:sp>
          <p:nvSpPr>
            <p:cNvPr id="46" name="TextBox 46"/>
            <p:cNvSpPr txBox="1"/>
            <p:nvPr/>
          </p:nvSpPr>
          <p:spPr>
            <a:xfrm>
              <a:off x="101600" y="184150"/>
              <a:ext cx="545685" cy="121124"/>
            </a:xfrm>
            <a:prstGeom prst="rect">
              <a:avLst/>
            </a:prstGeom>
          </p:spPr>
          <p:txBody>
            <a:bodyPr lIns="50800" tIns="50800" rIns="50800" bIns="50800" rtlCol="0" anchor="ctr"/>
            <a:lstStyle/>
            <a:p>
              <a:pPr algn="ctr">
                <a:lnSpc>
                  <a:spcPts val="2859"/>
                </a:lnSpc>
              </a:pPr>
              <a:endParaRPr/>
            </a:p>
          </p:txBody>
        </p:sp>
      </p:grpSp>
      <p:grpSp>
        <p:nvGrpSpPr>
          <p:cNvPr id="47" name="Group 47"/>
          <p:cNvGrpSpPr/>
          <p:nvPr/>
        </p:nvGrpSpPr>
        <p:grpSpPr>
          <a:xfrm>
            <a:off x="4307509" y="7913835"/>
            <a:ext cx="3995144" cy="831493"/>
            <a:chOff x="0" y="0"/>
            <a:chExt cx="1052219" cy="218994"/>
          </a:xfrm>
        </p:grpSpPr>
        <p:sp>
          <p:nvSpPr>
            <p:cNvPr id="48" name="Freeform 48"/>
            <p:cNvSpPr/>
            <p:nvPr/>
          </p:nvSpPr>
          <p:spPr>
            <a:xfrm>
              <a:off x="0" y="0"/>
              <a:ext cx="1052219" cy="218994"/>
            </a:xfrm>
            <a:custGeom>
              <a:avLst/>
              <a:gdLst/>
              <a:ahLst/>
              <a:cxnLst/>
              <a:rect l="l" t="t" r="r" b="b"/>
              <a:pathLst>
                <a:path w="1052219" h="218994">
                  <a:moveTo>
                    <a:pt x="0" y="0"/>
                  </a:moveTo>
                  <a:lnTo>
                    <a:pt x="1052219" y="0"/>
                  </a:lnTo>
                  <a:lnTo>
                    <a:pt x="1052219" y="218994"/>
                  </a:lnTo>
                  <a:lnTo>
                    <a:pt x="0" y="218994"/>
                  </a:lnTo>
                  <a:close/>
                </a:path>
              </a:pathLst>
            </a:custGeom>
            <a:solidFill>
              <a:srgbClr val="231F20"/>
            </a:solidFill>
          </p:spPr>
        </p:sp>
        <p:sp>
          <p:nvSpPr>
            <p:cNvPr id="49" name="TextBox 49"/>
            <p:cNvSpPr txBox="1"/>
            <p:nvPr/>
          </p:nvSpPr>
          <p:spPr>
            <a:xfrm>
              <a:off x="0" y="-19050"/>
              <a:ext cx="1052219" cy="238044"/>
            </a:xfrm>
            <a:prstGeom prst="rect">
              <a:avLst/>
            </a:prstGeom>
          </p:spPr>
          <p:txBody>
            <a:bodyPr lIns="50800" tIns="50800" rIns="50800" bIns="50800" rtlCol="0" anchor="ctr"/>
            <a:lstStyle/>
            <a:p>
              <a:pPr algn="ctr">
                <a:lnSpc>
                  <a:spcPts val="2859"/>
                </a:lnSpc>
              </a:pPr>
              <a:r>
                <a:rPr lang="en-US" sz="2199">
                  <a:solidFill>
                    <a:srgbClr val="FFFFFF"/>
                  </a:solidFill>
                  <a:latin typeface="Open Sauce"/>
                </a:rPr>
                <a:t>MODEL</a:t>
              </a: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5113031" y="2726334"/>
            <a:ext cx="1400485" cy="4088478"/>
            <a:chOff x="0" y="0"/>
            <a:chExt cx="368852" cy="2165006"/>
          </a:xfrm>
        </p:grpSpPr>
        <p:sp>
          <p:nvSpPr>
            <p:cNvPr id="4" name="Freeform 4"/>
            <p:cNvSpPr/>
            <p:nvPr/>
          </p:nvSpPr>
          <p:spPr>
            <a:xfrm>
              <a:off x="0" y="0"/>
              <a:ext cx="368852" cy="2165006"/>
            </a:xfrm>
            <a:custGeom>
              <a:avLst/>
              <a:gdLst/>
              <a:ahLst/>
              <a:cxnLst/>
              <a:rect l="l" t="t" r="r" b="b"/>
              <a:pathLst>
                <a:path w="368852" h="2165006">
                  <a:moveTo>
                    <a:pt x="0" y="0"/>
                  </a:moveTo>
                  <a:lnTo>
                    <a:pt x="368852" y="0"/>
                  </a:lnTo>
                  <a:lnTo>
                    <a:pt x="368852" y="2165006"/>
                  </a:lnTo>
                  <a:lnTo>
                    <a:pt x="0" y="2165006"/>
                  </a:lnTo>
                  <a:close/>
                </a:path>
              </a:pathLst>
            </a:custGeom>
            <a:solidFill>
              <a:srgbClr val="CCCCCC"/>
            </a:solidFill>
          </p:spPr>
        </p:sp>
        <p:sp>
          <p:nvSpPr>
            <p:cNvPr id="5" name="TextBox 5"/>
            <p:cNvSpPr txBox="1"/>
            <p:nvPr/>
          </p:nvSpPr>
          <p:spPr>
            <a:xfrm>
              <a:off x="0" y="-19050"/>
              <a:ext cx="368852" cy="2184056"/>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914400" y="-171450"/>
            <a:ext cx="15011399" cy="1769715"/>
          </a:xfrm>
          <a:prstGeom prst="rect">
            <a:avLst/>
          </a:prstGeom>
        </p:spPr>
        <p:txBody>
          <a:bodyPr wrap="square" lIns="0" tIns="0" rIns="0" bIns="0" rtlCol="0" anchor="t">
            <a:spAutoFit/>
          </a:bodyPr>
          <a:lstStyle/>
          <a:p>
            <a:pPr algn="ctr">
              <a:lnSpc>
                <a:spcPts val="13774"/>
              </a:lnSpc>
            </a:pPr>
            <a:r>
              <a:rPr lang="en-US" sz="9981" spc="978" dirty="0" smtClean="0">
                <a:solidFill>
                  <a:srgbClr val="231F20"/>
                </a:solidFill>
                <a:latin typeface="Oswald Bold"/>
              </a:rPr>
              <a:t>DATASET INSIGHTS</a:t>
            </a:r>
            <a:endParaRPr lang="en-US" sz="9981" spc="978" dirty="0">
              <a:solidFill>
                <a:srgbClr val="231F20"/>
              </a:solidFill>
              <a:latin typeface="Oswald Bold"/>
            </a:endParaRPr>
          </a:p>
        </p:txBody>
      </p:sp>
      <p:sp>
        <p:nvSpPr>
          <p:cNvPr id="7"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5231353" y="1763432"/>
            <a:ext cx="937219" cy="1962076"/>
          </a:xfrm>
          <a:prstGeom prst="rect">
            <a:avLst/>
          </a:prstGeom>
        </p:spPr>
        <p:txBody>
          <a:bodyPr lIns="0" tIns="0" rIns="0" bIns="0" rtlCol="0" anchor="t">
            <a:spAutoFit/>
          </a:bodyPr>
          <a:lstStyle/>
          <a:p>
            <a:pPr algn="ctr">
              <a:lnSpc>
                <a:spcPts val="5126"/>
              </a:lnSpc>
            </a:pPr>
            <a:endParaRPr lang="en-US" sz="4271" dirty="0" smtClean="0">
              <a:solidFill>
                <a:srgbClr val="363636"/>
              </a:solidFill>
              <a:latin typeface="Oswald Bold Italics"/>
            </a:endParaRPr>
          </a:p>
          <a:p>
            <a:pPr algn="ctr">
              <a:lnSpc>
                <a:spcPts val="5126"/>
              </a:lnSpc>
            </a:pPr>
            <a:endParaRPr lang="en-US" sz="4271" dirty="0">
              <a:solidFill>
                <a:srgbClr val="363636"/>
              </a:solidFill>
              <a:latin typeface="Oswald Bold Italics"/>
            </a:endParaRPr>
          </a:p>
          <a:p>
            <a:pPr algn="ctr">
              <a:lnSpc>
                <a:spcPts val="5126"/>
              </a:lnSpc>
            </a:pPr>
            <a:r>
              <a:rPr lang="en-US" sz="4271" dirty="0" smtClean="0">
                <a:solidFill>
                  <a:srgbClr val="363636"/>
                </a:solidFill>
                <a:latin typeface="Oswald Bold Italics"/>
              </a:rPr>
              <a:t>01</a:t>
            </a:r>
            <a:endParaRPr lang="en-US" sz="4271" dirty="0">
              <a:solidFill>
                <a:srgbClr val="363636"/>
              </a:solidFill>
              <a:latin typeface="Oswald Bold Italics"/>
            </a:endParaRPr>
          </a:p>
        </p:txBody>
      </p:sp>
      <p:sp>
        <p:nvSpPr>
          <p:cNvPr id="9" name="TextBox 9"/>
          <p:cNvSpPr txBox="1"/>
          <p:nvPr/>
        </p:nvSpPr>
        <p:spPr>
          <a:xfrm>
            <a:off x="5250954" y="2484111"/>
            <a:ext cx="937219" cy="2616101"/>
          </a:xfrm>
          <a:prstGeom prst="rect">
            <a:avLst/>
          </a:prstGeom>
        </p:spPr>
        <p:txBody>
          <a:bodyPr lIns="0" tIns="0" rIns="0" bIns="0" rtlCol="0" anchor="t">
            <a:spAutoFit/>
          </a:bodyPr>
          <a:lstStyle/>
          <a:p>
            <a:pPr algn="ctr">
              <a:lnSpc>
                <a:spcPts val="5126"/>
              </a:lnSpc>
            </a:pPr>
            <a:endParaRPr lang="en-US" sz="4271" dirty="0" smtClean="0">
              <a:solidFill>
                <a:srgbClr val="363636"/>
              </a:solidFill>
              <a:latin typeface="Oswald Bold Italics"/>
            </a:endParaRPr>
          </a:p>
          <a:p>
            <a:pPr algn="ctr">
              <a:lnSpc>
                <a:spcPts val="5126"/>
              </a:lnSpc>
            </a:pPr>
            <a:endParaRPr lang="en-US" sz="4271" dirty="0">
              <a:solidFill>
                <a:srgbClr val="363636"/>
              </a:solidFill>
              <a:latin typeface="Oswald Bold Italics"/>
            </a:endParaRPr>
          </a:p>
          <a:p>
            <a:pPr algn="ctr">
              <a:lnSpc>
                <a:spcPts val="5126"/>
              </a:lnSpc>
            </a:pPr>
            <a:endParaRPr lang="en-US" sz="4271" dirty="0" smtClean="0">
              <a:solidFill>
                <a:srgbClr val="363636"/>
              </a:solidFill>
              <a:latin typeface="Oswald Bold Italics"/>
            </a:endParaRPr>
          </a:p>
          <a:p>
            <a:pPr algn="ctr">
              <a:lnSpc>
                <a:spcPts val="5126"/>
              </a:lnSpc>
            </a:pPr>
            <a:r>
              <a:rPr lang="en-US" sz="4271" dirty="0" smtClean="0">
                <a:solidFill>
                  <a:srgbClr val="363636"/>
                </a:solidFill>
                <a:latin typeface="Oswald Bold Italics"/>
              </a:rPr>
              <a:t>02</a:t>
            </a:r>
            <a:endParaRPr lang="en-US" sz="4271" dirty="0">
              <a:solidFill>
                <a:srgbClr val="363636"/>
              </a:solidFill>
              <a:latin typeface="Oswald Bold Italics"/>
            </a:endParaRPr>
          </a:p>
        </p:txBody>
      </p:sp>
      <p:sp>
        <p:nvSpPr>
          <p:cNvPr id="10" name="TextBox 10"/>
          <p:cNvSpPr txBox="1"/>
          <p:nvPr/>
        </p:nvSpPr>
        <p:spPr>
          <a:xfrm>
            <a:off x="5250954" y="3208011"/>
            <a:ext cx="937219" cy="3270126"/>
          </a:xfrm>
          <a:prstGeom prst="rect">
            <a:avLst/>
          </a:prstGeom>
        </p:spPr>
        <p:txBody>
          <a:bodyPr lIns="0" tIns="0" rIns="0" bIns="0" rtlCol="0" anchor="t">
            <a:spAutoFit/>
          </a:bodyPr>
          <a:lstStyle/>
          <a:p>
            <a:pPr algn="ctr">
              <a:lnSpc>
                <a:spcPts val="5126"/>
              </a:lnSpc>
            </a:pPr>
            <a:endParaRPr lang="en-US" sz="4271" dirty="0" smtClean="0">
              <a:solidFill>
                <a:srgbClr val="363636"/>
              </a:solidFill>
              <a:latin typeface="Oswald Bold Italics"/>
            </a:endParaRPr>
          </a:p>
          <a:p>
            <a:pPr algn="ctr">
              <a:lnSpc>
                <a:spcPts val="5126"/>
              </a:lnSpc>
            </a:pPr>
            <a:endParaRPr lang="en-US" sz="4271" dirty="0">
              <a:solidFill>
                <a:srgbClr val="363636"/>
              </a:solidFill>
              <a:latin typeface="Oswald Bold Italics"/>
            </a:endParaRPr>
          </a:p>
          <a:p>
            <a:pPr algn="ctr">
              <a:lnSpc>
                <a:spcPts val="5126"/>
              </a:lnSpc>
            </a:pPr>
            <a:endParaRPr lang="en-US" sz="4271" dirty="0" smtClean="0">
              <a:solidFill>
                <a:srgbClr val="363636"/>
              </a:solidFill>
              <a:latin typeface="Oswald Bold Italics"/>
            </a:endParaRPr>
          </a:p>
          <a:p>
            <a:pPr algn="ctr">
              <a:lnSpc>
                <a:spcPts val="5126"/>
              </a:lnSpc>
            </a:pPr>
            <a:endParaRPr lang="en-US" sz="4271" dirty="0" smtClean="0">
              <a:solidFill>
                <a:srgbClr val="363636"/>
              </a:solidFill>
              <a:latin typeface="Oswald Bold Italics"/>
            </a:endParaRPr>
          </a:p>
          <a:p>
            <a:pPr algn="ctr">
              <a:lnSpc>
                <a:spcPts val="5126"/>
              </a:lnSpc>
            </a:pPr>
            <a:r>
              <a:rPr lang="en-US" sz="4271" dirty="0" smtClean="0">
                <a:solidFill>
                  <a:srgbClr val="363636"/>
                </a:solidFill>
                <a:latin typeface="Oswald Bold Italics"/>
              </a:rPr>
              <a:t>03</a:t>
            </a:r>
            <a:endParaRPr lang="en-US" sz="4271" dirty="0">
              <a:solidFill>
                <a:srgbClr val="363636"/>
              </a:solidFill>
              <a:latin typeface="Oswald Bold Italics"/>
            </a:endParaRPr>
          </a:p>
        </p:txBody>
      </p:sp>
      <p:sp>
        <p:nvSpPr>
          <p:cNvPr id="15" name="TextBox 15"/>
          <p:cNvSpPr txBox="1"/>
          <p:nvPr/>
        </p:nvSpPr>
        <p:spPr>
          <a:xfrm>
            <a:off x="6750493" y="3085421"/>
            <a:ext cx="5790503" cy="897682"/>
          </a:xfrm>
          <a:prstGeom prst="rect">
            <a:avLst/>
          </a:prstGeom>
        </p:spPr>
        <p:txBody>
          <a:bodyPr lIns="0" tIns="0" rIns="0" bIns="0" rtlCol="0" anchor="t">
            <a:spAutoFit/>
          </a:bodyPr>
          <a:lstStyle/>
          <a:p>
            <a:pPr>
              <a:lnSpc>
                <a:spcPts val="3483"/>
              </a:lnSpc>
            </a:pPr>
            <a:r>
              <a:rPr lang="en-US" sz="2524" spc="247" dirty="0" smtClean="0">
                <a:solidFill>
                  <a:srgbClr val="231F20"/>
                </a:solidFill>
                <a:latin typeface="DM Sans"/>
              </a:rPr>
              <a:t>This dataset has 498484 rows and 11 columns.</a:t>
            </a:r>
            <a:endParaRPr lang="en-US" sz="2524" spc="247" dirty="0">
              <a:solidFill>
                <a:srgbClr val="231F20"/>
              </a:solidFill>
              <a:latin typeface="DM Sans"/>
            </a:endParaRPr>
          </a:p>
        </p:txBody>
      </p:sp>
      <p:sp>
        <p:nvSpPr>
          <p:cNvPr id="35" name="TextBox 15"/>
          <p:cNvSpPr txBox="1"/>
          <p:nvPr/>
        </p:nvSpPr>
        <p:spPr>
          <a:xfrm>
            <a:off x="6750493" y="4303744"/>
            <a:ext cx="5790503" cy="897682"/>
          </a:xfrm>
          <a:prstGeom prst="rect">
            <a:avLst/>
          </a:prstGeom>
        </p:spPr>
        <p:txBody>
          <a:bodyPr lIns="0" tIns="0" rIns="0" bIns="0" rtlCol="0" anchor="t">
            <a:spAutoFit/>
          </a:bodyPr>
          <a:lstStyle/>
          <a:p>
            <a:pPr>
              <a:lnSpc>
                <a:spcPts val="3483"/>
              </a:lnSpc>
            </a:pPr>
            <a:r>
              <a:rPr lang="en-US" sz="2524" spc="247" dirty="0" smtClean="0">
                <a:solidFill>
                  <a:srgbClr val="231F20"/>
                </a:solidFill>
                <a:latin typeface="DM Sans"/>
              </a:rPr>
              <a:t>The target column in this dataset is the selling price.</a:t>
            </a:r>
            <a:endParaRPr lang="en-US" sz="2524" spc="247" dirty="0">
              <a:solidFill>
                <a:srgbClr val="231F20"/>
              </a:solidFill>
              <a:latin typeface="DM Sans"/>
            </a:endParaRPr>
          </a:p>
        </p:txBody>
      </p:sp>
      <p:sp>
        <p:nvSpPr>
          <p:cNvPr id="36" name="TextBox 15"/>
          <p:cNvSpPr txBox="1"/>
          <p:nvPr/>
        </p:nvSpPr>
        <p:spPr>
          <a:xfrm>
            <a:off x="6681919" y="5842365"/>
            <a:ext cx="5790503" cy="897682"/>
          </a:xfrm>
          <a:prstGeom prst="rect">
            <a:avLst/>
          </a:prstGeom>
        </p:spPr>
        <p:txBody>
          <a:bodyPr lIns="0" tIns="0" rIns="0" bIns="0" rtlCol="0" anchor="t">
            <a:spAutoFit/>
          </a:bodyPr>
          <a:lstStyle/>
          <a:p>
            <a:pPr>
              <a:lnSpc>
                <a:spcPts val="3483"/>
              </a:lnSpc>
            </a:pPr>
            <a:r>
              <a:rPr lang="en-US" sz="2524" spc="247" dirty="0" smtClean="0">
                <a:solidFill>
                  <a:srgbClr val="231F20"/>
                </a:solidFill>
                <a:latin typeface="DM Sans"/>
              </a:rPr>
              <a:t>The target column in this data is numerical. </a:t>
            </a:r>
            <a:endParaRPr lang="en-US" sz="2524" spc="247" dirty="0">
              <a:solidFill>
                <a:srgbClr val="231F20"/>
              </a:solidFill>
              <a:latin typeface="DM San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5076844" y="2922598"/>
            <a:ext cx="1400485" cy="3018691"/>
            <a:chOff x="0" y="0"/>
            <a:chExt cx="368852" cy="795046"/>
          </a:xfrm>
        </p:grpSpPr>
        <p:sp>
          <p:nvSpPr>
            <p:cNvPr id="4" name="Freeform 4"/>
            <p:cNvSpPr/>
            <p:nvPr/>
          </p:nvSpPr>
          <p:spPr>
            <a:xfrm>
              <a:off x="0" y="0"/>
              <a:ext cx="368852" cy="795046"/>
            </a:xfrm>
            <a:custGeom>
              <a:avLst/>
              <a:gdLst/>
              <a:ahLst/>
              <a:cxnLst/>
              <a:rect l="l" t="t" r="r" b="b"/>
              <a:pathLst>
                <a:path w="368852" h="795046">
                  <a:moveTo>
                    <a:pt x="0" y="0"/>
                  </a:moveTo>
                  <a:lnTo>
                    <a:pt x="368852" y="0"/>
                  </a:lnTo>
                  <a:lnTo>
                    <a:pt x="368852" y="795046"/>
                  </a:lnTo>
                  <a:lnTo>
                    <a:pt x="0" y="795046"/>
                  </a:lnTo>
                  <a:close/>
                </a:path>
              </a:pathLst>
            </a:custGeom>
            <a:solidFill>
              <a:srgbClr val="CCCCCC"/>
            </a:solidFill>
          </p:spPr>
        </p:sp>
        <p:sp>
          <p:nvSpPr>
            <p:cNvPr id="5" name="TextBox 5"/>
            <p:cNvSpPr txBox="1"/>
            <p:nvPr/>
          </p:nvSpPr>
          <p:spPr>
            <a:xfrm>
              <a:off x="0" y="-19050"/>
              <a:ext cx="368852" cy="814096"/>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4109463" y="-115531"/>
            <a:ext cx="10069074" cy="1683727"/>
          </a:xfrm>
          <a:prstGeom prst="rect">
            <a:avLst/>
          </a:prstGeom>
        </p:spPr>
        <p:txBody>
          <a:bodyPr lIns="0" tIns="0" rIns="0" bIns="0" rtlCol="0" anchor="t">
            <a:spAutoFit/>
          </a:bodyPr>
          <a:lstStyle/>
          <a:p>
            <a:pPr algn="ctr">
              <a:lnSpc>
                <a:spcPts val="13774"/>
              </a:lnSpc>
            </a:pPr>
            <a:r>
              <a:rPr lang="en-US" sz="9981" spc="978">
                <a:solidFill>
                  <a:srgbClr val="231F20"/>
                </a:solidFill>
                <a:latin typeface="Oswald Bold"/>
              </a:rPr>
              <a:t>DATA CLEANING</a:t>
            </a:r>
          </a:p>
        </p:txBody>
      </p:sp>
      <p:sp>
        <p:nvSpPr>
          <p:cNvPr id="7"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5250954" y="3361712"/>
            <a:ext cx="937219" cy="657225"/>
          </a:xfrm>
          <a:prstGeom prst="rect">
            <a:avLst/>
          </a:prstGeom>
        </p:spPr>
        <p:txBody>
          <a:bodyPr lIns="0" tIns="0" rIns="0" bIns="0" rtlCol="0" anchor="t">
            <a:spAutoFit/>
          </a:bodyPr>
          <a:lstStyle/>
          <a:p>
            <a:pPr algn="ctr">
              <a:lnSpc>
                <a:spcPts val="5126"/>
              </a:lnSpc>
            </a:pPr>
            <a:r>
              <a:rPr lang="en-US" sz="4271" dirty="0">
                <a:solidFill>
                  <a:srgbClr val="363636"/>
                </a:solidFill>
                <a:latin typeface="Oswald Bold Italics"/>
              </a:rPr>
              <a:t>01</a:t>
            </a:r>
          </a:p>
        </p:txBody>
      </p:sp>
      <p:sp>
        <p:nvSpPr>
          <p:cNvPr id="9" name="TextBox 9"/>
          <p:cNvSpPr txBox="1"/>
          <p:nvPr/>
        </p:nvSpPr>
        <p:spPr>
          <a:xfrm>
            <a:off x="5231353" y="4677730"/>
            <a:ext cx="937219" cy="657225"/>
          </a:xfrm>
          <a:prstGeom prst="rect">
            <a:avLst/>
          </a:prstGeom>
        </p:spPr>
        <p:txBody>
          <a:bodyPr lIns="0" tIns="0" rIns="0" bIns="0" rtlCol="0" anchor="t">
            <a:spAutoFit/>
          </a:bodyPr>
          <a:lstStyle/>
          <a:p>
            <a:pPr algn="ctr">
              <a:lnSpc>
                <a:spcPts val="5126"/>
              </a:lnSpc>
            </a:pPr>
            <a:r>
              <a:rPr lang="en-US" sz="4271" dirty="0">
                <a:solidFill>
                  <a:srgbClr val="363636"/>
                </a:solidFill>
                <a:latin typeface="Oswald Bold Italics"/>
              </a:rPr>
              <a:t>02</a:t>
            </a:r>
          </a:p>
        </p:txBody>
      </p:sp>
      <p:sp>
        <p:nvSpPr>
          <p:cNvPr id="10" name="TextBox 10"/>
          <p:cNvSpPr txBox="1"/>
          <p:nvPr/>
        </p:nvSpPr>
        <p:spPr>
          <a:xfrm>
            <a:off x="6607430" y="3400803"/>
            <a:ext cx="6741213" cy="1169594"/>
          </a:xfrm>
          <a:prstGeom prst="rect">
            <a:avLst/>
          </a:prstGeom>
        </p:spPr>
        <p:txBody>
          <a:bodyPr lIns="0" tIns="0" rIns="0" bIns="0" rtlCol="0" anchor="t">
            <a:spAutoFit/>
          </a:bodyPr>
          <a:lstStyle/>
          <a:p>
            <a:pPr>
              <a:lnSpc>
                <a:spcPts val="4719"/>
              </a:lnSpc>
            </a:pPr>
            <a:r>
              <a:rPr lang="en-US" sz="3420" spc="335">
                <a:solidFill>
                  <a:srgbClr val="231F20"/>
                </a:solidFill>
                <a:latin typeface="DM Sans"/>
              </a:rPr>
              <a:t>MISSING VALUE TREATMENT</a:t>
            </a:r>
          </a:p>
          <a:p>
            <a:pPr>
              <a:lnSpc>
                <a:spcPts val="4719"/>
              </a:lnSpc>
            </a:pPr>
            <a:endParaRPr lang="en-US" sz="3420" spc="335">
              <a:solidFill>
                <a:srgbClr val="231F20"/>
              </a:solidFill>
              <a:latin typeface="DM Sans"/>
            </a:endParaRPr>
          </a:p>
        </p:txBody>
      </p:sp>
      <p:sp>
        <p:nvSpPr>
          <p:cNvPr id="11" name="TextBox 11"/>
          <p:cNvSpPr txBox="1"/>
          <p:nvPr/>
        </p:nvSpPr>
        <p:spPr>
          <a:xfrm>
            <a:off x="6607430" y="4683530"/>
            <a:ext cx="6451678" cy="588475"/>
          </a:xfrm>
          <a:prstGeom prst="rect">
            <a:avLst/>
          </a:prstGeom>
        </p:spPr>
        <p:txBody>
          <a:bodyPr lIns="0" tIns="0" rIns="0" bIns="0" rtlCol="0" anchor="t">
            <a:spAutoFit/>
          </a:bodyPr>
          <a:lstStyle/>
          <a:p>
            <a:pPr>
              <a:lnSpc>
                <a:spcPts val="4725"/>
              </a:lnSpc>
            </a:pPr>
            <a:r>
              <a:rPr lang="en-US" sz="3424" spc="335">
                <a:solidFill>
                  <a:srgbClr val="231F20"/>
                </a:solidFill>
                <a:latin typeface="DM Sans"/>
              </a:rPr>
              <a:t>DATA TYPE CONVERSION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15626816"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4811846" y="-5785742"/>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aphicFrame>
        <p:nvGraphicFramePr>
          <p:cNvPr id="4" name="Table 4"/>
          <p:cNvGraphicFramePr>
            <a:graphicFrameLocks noGrp="1"/>
          </p:cNvGraphicFramePr>
          <p:nvPr/>
        </p:nvGraphicFramePr>
        <p:xfrm>
          <a:off x="1936828" y="1395094"/>
          <a:ext cx="14253610" cy="8604123"/>
        </p:xfrm>
        <a:graphic>
          <a:graphicData uri="http://schemas.openxmlformats.org/drawingml/2006/table">
            <a:tbl>
              <a:tblPr/>
              <a:tblGrid>
                <a:gridCol w="2850722">
                  <a:extLst>
                    <a:ext uri="{9D8B030D-6E8A-4147-A177-3AD203B41FA5}">
                      <a16:colId xmlns:a16="http://schemas.microsoft.com/office/drawing/2014/main" val="20000"/>
                    </a:ext>
                  </a:extLst>
                </a:gridCol>
                <a:gridCol w="2850722">
                  <a:extLst>
                    <a:ext uri="{9D8B030D-6E8A-4147-A177-3AD203B41FA5}">
                      <a16:colId xmlns:a16="http://schemas.microsoft.com/office/drawing/2014/main" val="20001"/>
                    </a:ext>
                  </a:extLst>
                </a:gridCol>
                <a:gridCol w="2850722">
                  <a:extLst>
                    <a:ext uri="{9D8B030D-6E8A-4147-A177-3AD203B41FA5}">
                      <a16:colId xmlns:a16="http://schemas.microsoft.com/office/drawing/2014/main" val="20002"/>
                    </a:ext>
                  </a:extLst>
                </a:gridCol>
                <a:gridCol w="2850722">
                  <a:extLst>
                    <a:ext uri="{9D8B030D-6E8A-4147-A177-3AD203B41FA5}">
                      <a16:colId xmlns:a16="http://schemas.microsoft.com/office/drawing/2014/main" val="20003"/>
                    </a:ext>
                  </a:extLst>
                </a:gridCol>
                <a:gridCol w="2850722">
                  <a:extLst>
                    <a:ext uri="{9D8B030D-6E8A-4147-A177-3AD203B41FA5}">
                      <a16:colId xmlns:a16="http://schemas.microsoft.com/office/drawing/2014/main" val="20004"/>
                    </a:ext>
                  </a:extLst>
                </a:gridCol>
              </a:tblGrid>
              <a:tr h="2119946">
                <a:tc>
                  <a:txBody>
                    <a:bodyPr/>
                    <a:lstStyle/>
                    <a:p>
                      <a:pPr algn="ctr">
                        <a:lnSpc>
                          <a:spcPts val="2100"/>
                        </a:lnSpc>
                        <a:defRPr/>
                      </a:pP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2939"/>
                        </a:lnSpc>
                        <a:defRPr/>
                      </a:pPr>
                      <a:endParaRPr lang="en-US" sz="1100"/>
                    </a:p>
                    <a:p>
                      <a:pPr algn="ctr">
                        <a:lnSpc>
                          <a:spcPts val="3779"/>
                        </a:lnSpc>
                      </a:pPr>
                      <a:r>
                        <a:rPr lang="en-US" sz="2699">
                          <a:solidFill>
                            <a:srgbClr val="000000"/>
                          </a:solidFill>
                          <a:latin typeface="Open Sauce Bold"/>
                        </a:rPr>
                        <a:t>Modelname</a:t>
                      </a:r>
                    </a:p>
                    <a:p>
                      <a:pPr algn="ctr">
                        <a:lnSpc>
                          <a:spcPts val="2100"/>
                        </a:lnSpc>
                      </a:pPr>
                      <a:endParaRPr lang="en-US" sz="2699">
                        <a:solidFill>
                          <a:srgbClr val="000000"/>
                        </a:solidFill>
                        <a:latin typeface="Open Sauce Bold"/>
                      </a:endParaRPr>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779"/>
                        </a:lnSpc>
                        <a:defRPr/>
                      </a:pPr>
                      <a:endParaRPr lang="en-US" sz="1100"/>
                    </a:p>
                    <a:p>
                      <a:pPr algn="ctr">
                        <a:lnSpc>
                          <a:spcPts val="3779"/>
                        </a:lnSpc>
                      </a:pPr>
                      <a:r>
                        <a:rPr lang="en-US" sz="2699">
                          <a:solidFill>
                            <a:srgbClr val="000000"/>
                          </a:solidFill>
                          <a:latin typeface="Open Sauce Bold"/>
                        </a:rPr>
                        <a:t>R-square</a:t>
                      </a:r>
                    </a:p>
                    <a:p>
                      <a:pPr algn="ctr">
                        <a:lnSpc>
                          <a:spcPts val="3779"/>
                        </a:lnSpc>
                      </a:pPr>
                      <a:endParaRPr lang="en-US" sz="2699">
                        <a:solidFill>
                          <a:srgbClr val="000000"/>
                        </a:solidFill>
                        <a:latin typeface="Open Sauce Bold"/>
                      </a:endParaRPr>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779"/>
                        </a:lnSpc>
                        <a:defRPr/>
                      </a:pPr>
                      <a:r>
                        <a:rPr lang="en-US" sz="2699">
                          <a:solidFill>
                            <a:srgbClr val="000000"/>
                          </a:solidFill>
                          <a:latin typeface="Open Sauce Bold"/>
                        </a:rPr>
                        <a:t>Adj-R2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779"/>
                        </a:lnSpc>
                        <a:defRPr/>
                      </a:pPr>
                      <a:r>
                        <a:rPr lang="en-US" sz="2699">
                          <a:solidFill>
                            <a:srgbClr val="000000"/>
                          </a:solidFill>
                          <a:latin typeface="Open Sauce Bold"/>
                        </a:rPr>
                        <a:t>MSE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extLst>
                  <a:ext uri="{0D108BD9-81ED-4DB2-BD59-A6C34878D82A}">
                    <a16:rowId xmlns:a16="http://schemas.microsoft.com/office/drawing/2014/main" val="10000"/>
                  </a:ext>
                </a:extLst>
              </a:tr>
              <a:tr h="1076449">
                <a:tc>
                  <a:txBody>
                    <a:bodyPr/>
                    <a:lstStyle/>
                    <a:p>
                      <a:pPr algn="ctr">
                        <a:lnSpc>
                          <a:spcPts val="4199"/>
                        </a:lnSpc>
                        <a:defRPr/>
                      </a:pPr>
                      <a:r>
                        <a:rPr lang="en-US" sz="2999">
                          <a:solidFill>
                            <a:srgbClr val="000000"/>
                          </a:solidFill>
                          <a:latin typeface="Open Sauce"/>
                        </a:rPr>
                        <a:t>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359"/>
                        </a:lnSpc>
                        <a:defRPr/>
                      </a:pPr>
                      <a:r>
                        <a:rPr lang="en-US" sz="2399">
                          <a:solidFill>
                            <a:srgbClr val="000000"/>
                          </a:solidFill>
                          <a:latin typeface="Open Sauce"/>
                        </a:rPr>
                        <a:t>Linear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dirty="0">
                          <a:solidFill>
                            <a:srgbClr val="000000"/>
                          </a:solidFill>
                          <a:latin typeface="Open Sauce"/>
                        </a:rPr>
                        <a:t>0.969657</a:t>
                      </a:r>
                      <a:endParaRPr lang="en-US" sz="11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2.573992e+06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1"/>
                  </a:ext>
                </a:extLst>
              </a:tr>
              <a:tr h="1087433">
                <a:tc>
                  <a:txBody>
                    <a:bodyPr/>
                    <a:lstStyle/>
                    <a:p>
                      <a:pPr algn="ctr">
                        <a:lnSpc>
                          <a:spcPts val="4200"/>
                        </a:lnSpc>
                        <a:defRPr/>
                      </a:pPr>
                      <a:r>
                        <a:rPr lang="en-US" sz="3000">
                          <a:solidFill>
                            <a:srgbClr val="000000"/>
                          </a:solidFill>
                          <a:latin typeface="Open Sauce"/>
                        </a:rPr>
                        <a:t>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359"/>
                        </a:lnSpc>
                        <a:defRPr/>
                      </a:pPr>
                      <a:r>
                        <a:rPr lang="en-US" sz="2400">
                          <a:solidFill>
                            <a:srgbClr val="000000"/>
                          </a:solidFill>
                          <a:latin typeface="Open Sauce"/>
                        </a:rPr>
                        <a:t>Lasso</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dirty="0">
                          <a:solidFill>
                            <a:srgbClr val="000000"/>
                          </a:solidFill>
                          <a:latin typeface="Open Sauce"/>
                        </a:rPr>
                        <a:t>0.969657</a:t>
                      </a:r>
                      <a:endParaRPr lang="en-US" sz="11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2.574011e+06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2"/>
                  </a:ext>
                </a:extLst>
              </a:tr>
              <a:tr h="1087433">
                <a:tc>
                  <a:txBody>
                    <a:bodyPr/>
                    <a:lstStyle/>
                    <a:p>
                      <a:pPr algn="ctr">
                        <a:lnSpc>
                          <a:spcPts val="4200"/>
                        </a:lnSpc>
                        <a:defRPr/>
                      </a:pPr>
                      <a:r>
                        <a:rPr lang="en-US" sz="3000">
                          <a:solidFill>
                            <a:srgbClr val="000000"/>
                          </a:solidFill>
                          <a:latin typeface="Open Sauce"/>
                        </a:rPr>
                        <a:t>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359"/>
                        </a:lnSpc>
                        <a:defRPr/>
                      </a:pPr>
                      <a:r>
                        <a:rPr lang="en-US" sz="2399">
                          <a:solidFill>
                            <a:srgbClr val="000000"/>
                          </a:solidFill>
                          <a:latin typeface="Open Sauce"/>
                        </a:rPr>
                        <a:t>Ridge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dirty="0">
                          <a:solidFill>
                            <a:srgbClr val="000000"/>
                          </a:solidFill>
                          <a:latin typeface="Open Sauce"/>
                        </a:rPr>
                        <a:t>0.969657</a:t>
                      </a:r>
                      <a:endParaRPr lang="en-US" sz="11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2.573992e+06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3"/>
                  </a:ext>
                </a:extLst>
              </a:tr>
              <a:tr h="1076449">
                <a:tc>
                  <a:txBody>
                    <a:bodyPr/>
                    <a:lstStyle/>
                    <a:p>
                      <a:pPr algn="ctr">
                        <a:lnSpc>
                          <a:spcPts val="4199"/>
                        </a:lnSpc>
                        <a:defRPr/>
                      </a:pPr>
                      <a:r>
                        <a:rPr lang="en-US" sz="2999">
                          <a:solidFill>
                            <a:srgbClr val="000000"/>
                          </a:solidFill>
                          <a:latin typeface="Open Sauce"/>
                        </a:rPr>
                        <a:t>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359"/>
                        </a:lnSpc>
                        <a:defRPr/>
                      </a:pPr>
                      <a:r>
                        <a:rPr lang="en-US" sz="2399">
                          <a:solidFill>
                            <a:srgbClr val="000000"/>
                          </a:solidFill>
                          <a:latin typeface="Open Sauce"/>
                        </a:rPr>
                        <a:t>RF-Regressor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0.996358</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0.996358</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2.259267e+06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4"/>
                  </a:ext>
                </a:extLst>
              </a:tr>
              <a:tr h="1079964">
                <a:tc>
                  <a:txBody>
                    <a:bodyPr/>
                    <a:lstStyle/>
                    <a:p>
                      <a:pPr algn="ctr">
                        <a:lnSpc>
                          <a:spcPts val="4199"/>
                        </a:lnSpc>
                        <a:defRPr/>
                      </a:pPr>
                      <a:r>
                        <a:rPr lang="en-US" sz="2999">
                          <a:solidFill>
                            <a:srgbClr val="000000"/>
                          </a:solidFill>
                          <a:latin typeface="Open Sauce"/>
                        </a:rPr>
                        <a:t>5</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359"/>
                        </a:lnSpc>
                        <a:defRPr/>
                      </a:pPr>
                      <a:r>
                        <a:rPr lang="en-US" sz="2399">
                          <a:solidFill>
                            <a:srgbClr val="000000"/>
                          </a:solidFill>
                          <a:latin typeface="Open Sauce"/>
                        </a:rPr>
                        <a:t>DT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1.000000</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1.000000</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5.260745e+06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5"/>
                  </a:ext>
                </a:extLst>
              </a:tr>
              <a:tr h="1076449">
                <a:tc>
                  <a:txBody>
                    <a:bodyPr/>
                    <a:lstStyle/>
                    <a:p>
                      <a:pPr algn="ctr">
                        <a:lnSpc>
                          <a:spcPts val="4199"/>
                        </a:lnSpc>
                        <a:defRPr/>
                      </a:pPr>
                      <a:r>
                        <a:rPr lang="en-US" sz="2999">
                          <a:solidFill>
                            <a:srgbClr val="000000"/>
                          </a:solidFill>
                          <a:latin typeface="Open Sauce"/>
                        </a:rPr>
                        <a:t>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359"/>
                        </a:lnSpc>
                        <a:defRPr/>
                      </a:pPr>
                      <a:r>
                        <a:rPr lang="en-US" sz="2399">
                          <a:solidFill>
                            <a:srgbClr val="000000"/>
                          </a:solidFill>
                          <a:latin typeface="Open Sauce"/>
                        </a:rPr>
                        <a:t>XGB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0.976894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a:solidFill>
                            <a:srgbClr val="000000"/>
                          </a:solidFill>
                          <a:latin typeface="Open Sauce"/>
                        </a:rPr>
                        <a:t>0.976893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359"/>
                        </a:lnSpc>
                        <a:defRPr/>
                      </a:pPr>
                      <a:r>
                        <a:rPr lang="en-US" sz="2399" dirty="0">
                          <a:solidFill>
                            <a:srgbClr val="000000"/>
                          </a:solidFill>
                          <a:latin typeface="Open Sauce"/>
                        </a:rPr>
                        <a:t>2.518359e+06</a:t>
                      </a:r>
                      <a:endParaRPr lang="en-US" sz="11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6"/>
                  </a:ext>
                </a:extLst>
              </a:tr>
            </a:tbl>
          </a:graphicData>
        </a:graphic>
      </p:graphicFrame>
      <p:sp>
        <p:nvSpPr>
          <p:cNvPr id="5" name="TextBox 5"/>
          <p:cNvSpPr txBox="1"/>
          <p:nvPr/>
        </p:nvSpPr>
        <p:spPr>
          <a:xfrm>
            <a:off x="381000" y="-171450"/>
            <a:ext cx="16535401" cy="1654299"/>
          </a:xfrm>
          <a:prstGeom prst="rect">
            <a:avLst/>
          </a:prstGeom>
        </p:spPr>
        <p:txBody>
          <a:bodyPr wrap="square" lIns="0" tIns="0" rIns="0" bIns="0" rtlCol="0" anchor="t">
            <a:spAutoFit/>
          </a:bodyPr>
          <a:lstStyle/>
          <a:p>
            <a:pPr algn="ctr">
              <a:lnSpc>
                <a:spcPts val="12880"/>
              </a:lnSpc>
            </a:pPr>
            <a:r>
              <a:rPr lang="en-US" sz="9200" dirty="0">
                <a:solidFill>
                  <a:srgbClr val="000000"/>
                </a:solidFill>
                <a:latin typeface="Canva Sans Bold"/>
              </a:rPr>
              <a:t>BASIC MODEL</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7" name="TextBox 6"/>
          <p:cNvSpPr txBox="1"/>
          <p:nvPr/>
        </p:nvSpPr>
        <p:spPr>
          <a:xfrm>
            <a:off x="-1371600" y="-171450"/>
            <a:ext cx="20726399" cy="1567352"/>
          </a:xfrm>
          <a:prstGeom prst="rect">
            <a:avLst/>
          </a:prstGeom>
        </p:spPr>
        <p:txBody>
          <a:bodyPr wrap="square" lIns="0" tIns="0" rIns="0" bIns="0" rtlCol="0" anchor="t">
            <a:spAutoFit/>
          </a:bodyPr>
          <a:lstStyle/>
          <a:p>
            <a:pPr algn="ctr">
              <a:lnSpc>
                <a:spcPts val="13774"/>
              </a:lnSpc>
            </a:pPr>
            <a:r>
              <a:rPr lang="en-US" sz="8000" spc="978" dirty="0" smtClean="0">
                <a:solidFill>
                  <a:srgbClr val="231F20"/>
                </a:solidFill>
                <a:latin typeface="Oswald Bold"/>
              </a:rPr>
              <a:t>CONCLUSION FROM BASIC MODEL</a:t>
            </a:r>
            <a:endParaRPr lang="en-US" sz="8000" spc="978" dirty="0">
              <a:solidFill>
                <a:srgbClr val="231F20"/>
              </a:solidFill>
              <a:latin typeface="Oswald Bold"/>
            </a:endParaRPr>
          </a:p>
        </p:txBody>
      </p:sp>
      <p:sp>
        <p:nvSpPr>
          <p:cNvPr id="8"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33" name="Group 3"/>
          <p:cNvGrpSpPr/>
          <p:nvPr/>
        </p:nvGrpSpPr>
        <p:grpSpPr>
          <a:xfrm>
            <a:off x="4994922" y="3455639"/>
            <a:ext cx="1400485" cy="1524001"/>
            <a:chOff x="0" y="0"/>
            <a:chExt cx="368852" cy="795046"/>
          </a:xfrm>
        </p:grpSpPr>
        <p:sp>
          <p:nvSpPr>
            <p:cNvPr id="34" name="Freeform 4"/>
            <p:cNvSpPr/>
            <p:nvPr/>
          </p:nvSpPr>
          <p:spPr>
            <a:xfrm>
              <a:off x="0" y="0"/>
              <a:ext cx="368852" cy="795046"/>
            </a:xfrm>
            <a:custGeom>
              <a:avLst/>
              <a:gdLst/>
              <a:ahLst/>
              <a:cxnLst/>
              <a:rect l="l" t="t" r="r" b="b"/>
              <a:pathLst>
                <a:path w="368852" h="795046">
                  <a:moveTo>
                    <a:pt x="0" y="0"/>
                  </a:moveTo>
                  <a:lnTo>
                    <a:pt x="368852" y="0"/>
                  </a:lnTo>
                  <a:lnTo>
                    <a:pt x="368852" y="795046"/>
                  </a:lnTo>
                  <a:lnTo>
                    <a:pt x="0" y="795046"/>
                  </a:lnTo>
                  <a:close/>
                </a:path>
              </a:pathLst>
            </a:custGeom>
            <a:solidFill>
              <a:srgbClr val="CCCCCC"/>
            </a:solidFill>
          </p:spPr>
        </p:sp>
        <p:sp>
          <p:nvSpPr>
            <p:cNvPr id="35" name="TextBox 5"/>
            <p:cNvSpPr txBox="1"/>
            <p:nvPr/>
          </p:nvSpPr>
          <p:spPr>
            <a:xfrm>
              <a:off x="0" y="-19050"/>
              <a:ext cx="368852" cy="814096"/>
            </a:xfrm>
            <a:prstGeom prst="rect">
              <a:avLst/>
            </a:prstGeom>
          </p:spPr>
          <p:txBody>
            <a:bodyPr lIns="50800" tIns="50800" rIns="50800" bIns="50800" rtlCol="0" anchor="ctr"/>
            <a:lstStyle/>
            <a:p>
              <a:pPr algn="ctr">
                <a:lnSpc>
                  <a:spcPts val="2859"/>
                </a:lnSpc>
              </a:pPr>
              <a:endParaRPr/>
            </a:p>
          </p:txBody>
        </p:sp>
      </p:grpSp>
      <p:sp>
        <p:nvSpPr>
          <p:cNvPr id="36" name="TextBox 8"/>
          <p:cNvSpPr txBox="1"/>
          <p:nvPr/>
        </p:nvSpPr>
        <p:spPr>
          <a:xfrm>
            <a:off x="5231353" y="3777919"/>
            <a:ext cx="937219" cy="654025"/>
          </a:xfrm>
          <a:prstGeom prst="rect">
            <a:avLst/>
          </a:prstGeom>
        </p:spPr>
        <p:txBody>
          <a:bodyPr lIns="0" tIns="0" rIns="0" bIns="0" rtlCol="0" anchor="t">
            <a:spAutoFit/>
          </a:bodyPr>
          <a:lstStyle/>
          <a:p>
            <a:pPr algn="ctr">
              <a:lnSpc>
                <a:spcPts val="5126"/>
              </a:lnSpc>
            </a:pPr>
            <a:r>
              <a:rPr lang="en-US" sz="4271" dirty="0" smtClean="0">
                <a:solidFill>
                  <a:srgbClr val="363636"/>
                </a:solidFill>
                <a:latin typeface="Oswald Bold Italics"/>
              </a:rPr>
              <a:t>01</a:t>
            </a:r>
            <a:endParaRPr lang="en-US" sz="4271" dirty="0">
              <a:solidFill>
                <a:srgbClr val="363636"/>
              </a:solidFill>
              <a:latin typeface="Oswald Bold Italics"/>
            </a:endParaRPr>
          </a:p>
        </p:txBody>
      </p:sp>
      <p:sp>
        <p:nvSpPr>
          <p:cNvPr id="38" name="TextBox 10"/>
          <p:cNvSpPr txBox="1"/>
          <p:nvPr/>
        </p:nvSpPr>
        <p:spPr>
          <a:xfrm>
            <a:off x="7010400" y="3416033"/>
            <a:ext cx="9829800" cy="1808187"/>
          </a:xfrm>
          <a:prstGeom prst="rect">
            <a:avLst/>
          </a:prstGeom>
        </p:spPr>
        <p:txBody>
          <a:bodyPr wrap="square" lIns="0" tIns="0" rIns="0" bIns="0" rtlCol="0" anchor="t">
            <a:spAutoFit/>
          </a:bodyPr>
          <a:lstStyle/>
          <a:p>
            <a:pPr>
              <a:lnSpc>
                <a:spcPts val="4719"/>
              </a:lnSpc>
            </a:pPr>
            <a:r>
              <a:rPr lang="en-US" sz="3420" spc="335" dirty="0" smtClean="0">
                <a:solidFill>
                  <a:srgbClr val="231F20"/>
                </a:solidFill>
                <a:latin typeface="DM Sans"/>
              </a:rPr>
              <a:t>From the basic model we can conclude that </a:t>
            </a:r>
            <a:r>
              <a:rPr lang="en-US" sz="3420" spc="335" dirty="0" err="1" smtClean="0">
                <a:solidFill>
                  <a:srgbClr val="231F20"/>
                </a:solidFill>
                <a:latin typeface="DM Sans"/>
              </a:rPr>
              <a:t>linear,lasso</a:t>
            </a:r>
            <a:r>
              <a:rPr lang="en-US" sz="3420" spc="335" dirty="0" smtClean="0">
                <a:solidFill>
                  <a:srgbClr val="231F20"/>
                </a:solidFill>
                <a:latin typeface="DM Sans"/>
              </a:rPr>
              <a:t> and ridge gives the best result. </a:t>
            </a:r>
            <a:endParaRPr lang="en-US" sz="3420" spc="335" dirty="0">
              <a:solidFill>
                <a:srgbClr val="231F20"/>
              </a:solidFill>
              <a:latin typeface="DM Sans"/>
            </a:endParaRPr>
          </a:p>
        </p:txBody>
      </p:sp>
      <p:sp>
        <p:nvSpPr>
          <p:cNvPr id="10" name="TextBox 8"/>
          <p:cNvSpPr txBox="1"/>
          <p:nvPr/>
        </p:nvSpPr>
        <p:spPr>
          <a:xfrm>
            <a:off x="5250954" y="3361712"/>
            <a:ext cx="937219" cy="657225"/>
          </a:xfrm>
          <a:prstGeom prst="rect">
            <a:avLst/>
          </a:prstGeom>
        </p:spPr>
        <p:txBody>
          <a:bodyPr lIns="0" tIns="0" rIns="0" bIns="0" rtlCol="0" anchor="t">
            <a:spAutoFit/>
          </a:bodyPr>
          <a:lstStyle/>
          <a:p>
            <a:pPr algn="ctr">
              <a:lnSpc>
                <a:spcPts val="5126"/>
              </a:lnSpc>
            </a:pPr>
            <a:endParaRPr lang="en-US" sz="4271" dirty="0">
              <a:solidFill>
                <a:srgbClr val="363636"/>
              </a:solidFill>
              <a:latin typeface="Oswald Bold Italics"/>
            </a:endParaRPr>
          </a:p>
        </p:txBody>
      </p:sp>
    </p:spTree>
    <p:extLst>
      <p:ext uri="{BB962C8B-B14F-4D97-AF65-F5344CB8AC3E}">
        <p14:creationId xmlns:p14="http://schemas.microsoft.com/office/powerpoint/2010/main" val="212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8490838" y="-10603299"/>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5295751" y="-3736041"/>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3158374" y="2268841"/>
            <a:ext cx="11971252" cy="7432775"/>
          </a:xfrm>
          <a:custGeom>
            <a:avLst/>
            <a:gdLst/>
            <a:ahLst/>
            <a:cxnLst/>
            <a:rect l="l" t="t" r="r" b="b"/>
            <a:pathLst>
              <a:path w="11971252" h="7432775">
                <a:moveTo>
                  <a:pt x="0" y="0"/>
                </a:moveTo>
                <a:lnTo>
                  <a:pt x="11971252" y="0"/>
                </a:lnTo>
                <a:lnTo>
                  <a:pt x="11971252" y="7432775"/>
                </a:lnTo>
                <a:lnTo>
                  <a:pt x="0" y="7432775"/>
                </a:lnTo>
                <a:lnTo>
                  <a:pt x="0" y="0"/>
                </a:lnTo>
                <a:close/>
              </a:path>
            </a:pathLst>
          </a:custGeom>
          <a:blipFill>
            <a:blip r:embed="rId4"/>
            <a:stretch>
              <a:fillRect/>
            </a:stretch>
          </a:blipFill>
        </p:spPr>
      </p:sp>
      <p:sp>
        <p:nvSpPr>
          <p:cNvPr id="5" name="TextBox 5"/>
          <p:cNvSpPr txBox="1"/>
          <p:nvPr/>
        </p:nvSpPr>
        <p:spPr>
          <a:xfrm>
            <a:off x="5481935" y="-171450"/>
            <a:ext cx="7324130" cy="1566544"/>
          </a:xfrm>
          <a:prstGeom prst="rect">
            <a:avLst/>
          </a:prstGeom>
        </p:spPr>
        <p:txBody>
          <a:bodyPr lIns="0" tIns="0" rIns="0" bIns="0" rtlCol="0" anchor="t">
            <a:spAutoFit/>
          </a:bodyPr>
          <a:lstStyle/>
          <a:p>
            <a:pPr algn="ctr">
              <a:lnSpc>
                <a:spcPts val="12880"/>
              </a:lnSpc>
            </a:pPr>
            <a:r>
              <a:rPr lang="en-US" sz="9200">
                <a:solidFill>
                  <a:srgbClr val="FFFFFF"/>
                </a:solidFill>
                <a:latin typeface="Canva Sans Bold"/>
              </a:rPr>
              <a:t>Visualization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8276524" y="-10462511"/>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4759966" y="-3468149"/>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3109810" y="2226340"/>
            <a:ext cx="11650157" cy="7133562"/>
          </a:xfrm>
          <a:custGeom>
            <a:avLst/>
            <a:gdLst/>
            <a:ahLst/>
            <a:cxnLst/>
            <a:rect l="l" t="t" r="r" b="b"/>
            <a:pathLst>
              <a:path w="11650157" h="7133562">
                <a:moveTo>
                  <a:pt x="0" y="0"/>
                </a:moveTo>
                <a:lnTo>
                  <a:pt x="11650156" y="0"/>
                </a:lnTo>
                <a:lnTo>
                  <a:pt x="11650156" y="7133562"/>
                </a:lnTo>
                <a:lnTo>
                  <a:pt x="0" y="7133562"/>
                </a:lnTo>
                <a:lnTo>
                  <a:pt x="0" y="0"/>
                </a:lnTo>
                <a:close/>
              </a:path>
            </a:pathLst>
          </a:custGeom>
          <a:blipFill>
            <a:blip r:embed="rId4"/>
            <a:stretch>
              <a:fillRect/>
            </a:stretch>
          </a:blipFill>
        </p:spPr>
      </p:sp>
      <p:sp>
        <p:nvSpPr>
          <p:cNvPr id="5" name="TextBox 5"/>
          <p:cNvSpPr txBox="1"/>
          <p:nvPr/>
        </p:nvSpPr>
        <p:spPr>
          <a:xfrm>
            <a:off x="5481935" y="-171450"/>
            <a:ext cx="7324130" cy="1566544"/>
          </a:xfrm>
          <a:prstGeom prst="rect">
            <a:avLst/>
          </a:prstGeom>
        </p:spPr>
        <p:txBody>
          <a:bodyPr lIns="0" tIns="0" rIns="0" bIns="0" rtlCol="0" anchor="t">
            <a:spAutoFit/>
          </a:bodyPr>
          <a:lstStyle/>
          <a:p>
            <a:pPr algn="ctr">
              <a:lnSpc>
                <a:spcPts val="12880"/>
              </a:lnSpc>
            </a:pPr>
            <a:r>
              <a:rPr lang="en-US" sz="9200">
                <a:solidFill>
                  <a:srgbClr val="FFFFFF"/>
                </a:solidFill>
                <a:latin typeface="Canva Sans Bold"/>
              </a:rPr>
              <a:t>Visualization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8169367" y="-10264537"/>
            <a:ext cx="15841853" cy="16255633"/>
          </a:xfrm>
          <a:custGeom>
            <a:avLst/>
            <a:gdLst/>
            <a:ahLst/>
            <a:cxnLst/>
            <a:rect l="l" t="t" r="r" b="b"/>
            <a:pathLst>
              <a:path w="15841853" h="16255633">
                <a:moveTo>
                  <a:pt x="0" y="0"/>
                </a:moveTo>
                <a:lnTo>
                  <a:pt x="15841853" y="0"/>
                </a:lnTo>
                <a:lnTo>
                  <a:pt x="15841853" y="16255632"/>
                </a:lnTo>
                <a:lnTo>
                  <a:pt x="0" y="16255632"/>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5027859" y="-2136721"/>
            <a:ext cx="15841853" cy="16255633"/>
          </a:xfrm>
          <a:custGeom>
            <a:avLst/>
            <a:gdLst/>
            <a:ahLst/>
            <a:cxnLst/>
            <a:rect l="l" t="t" r="r" b="b"/>
            <a:pathLst>
              <a:path w="15841853" h="16255633">
                <a:moveTo>
                  <a:pt x="0" y="0"/>
                </a:moveTo>
                <a:lnTo>
                  <a:pt x="15841852" y="0"/>
                </a:lnTo>
                <a:lnTo>
                  <a:pt x="15841852" y="16255633"/>
                </a:lnTo>
                <a:lnTo>
                  <a:pt x="0" y="1625563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4581722" y="1216017"/>
            <a:ext cx="10446136" cy="8956167"/>
          </a:xfrm>
          <a:custGeom>
            <a:avLst/>
            <a:gdLst/>
            <a:ahLst/>
            <a:cxnLst/>
            <a:rect l="l" t="t" r="r" b="b"/>
            <a:pathLst>
              <a:path w="10446136" h="8956167">
                <a:moveTo>
                  <a:pt x="0" y="0"/>
                </a:moveTo>
                <a:lnTo>
                  <a:pt x="10446137" y="0"/>
                </a:lnTo>
                <a:lnTo>
                  <a:pt x="10446137" y="8956167"/>
                </a:lnTo>
                <a:lnTo>
                  <a:pt x="0" y="8956167"/>
                </a:lnTo>
                <a:lnTo>
                  <a:pt x="0" y="0"/>
                </a:lnTo>
                <a:close/>
              </a:path>
            </a:pathLst>
          </a:custGeom>
          <a:blipFill>
            <a:blip r:embed="rId4"/>
            <a:stretch>
              <a:fillRect l="-4174" r="-661" b="-2313"/>
            </a:stretch>
          </a:blipFill>
        </p:spPr>
      </p:sp>
      <p:sp>
        <p:nvSpPr>
          <p:cNvPr id="5" name="TextBox 5"/>
          <p:cNvSpPr txBox="1"/>
          <p:nvPr/>
        </p:nvSpPr>
        <p:spPr>
          <a:xfrm>
            <a:off x="5282857" y="-152400"/>
            <a:ext cx="8365228" cy="1368417"/>
          </a:xfrm>
          <a:prstGeom prst="rect">
            <a:avLst/>
          </a:prstGeom>
        </p:spPr>
        <p:txBody>
          <a:bodyPr lIns="0" tIns="0" rIns="0" bIns="0" rtlCol="0" anchor="t">
            <a:spAutoFit/>
          </a:bodyPr>
          <a:lstStyle/>
          <a:p>
            <a:pPr algn="ctr">
              <a:lnSpc>
                <a:spcPts val="11200"/>
              </a:lnSpc>
            </a:pPr>
            <a:r>
              <a:rPr lang="en-US" sz="8000">
                <a:solidFill>
                  <a:srgbClr val="FFFFFF"/>
                </a:solidFill>
                <a:latin typeface="Canva Sans Bold"/>
              </a:rPr>
              <a:t>HEATMAP</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494808" y="6372717"/>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733044" y="-115531"/>
            <a:ext cx="15319762" cy="1683727"/>
          </a:xfrm>
          <a:prstGeom prst="rect">
            <a:avLst/>
          </a:prstGeom>
        </p:spPr>
        <p:txBody>
          <a:bodyPr lIns="0" tIns="0" rIns="0" bIns="0" rtlCol="0" anchor="t">
            <a:spAutoFit/>
          </a:bodyPr>
          <a:lstStyle/>
          <a:p>
            <a:pPr algn="ctr">
              <a:lnSpc>
                <a:spcPts val="13774"/>
              </a:lnSpc>
            </a:pPr>
            <a:r>
              <a:rPr lang="en-US" sz="9981" spc="978" dirty="0" smtClean="0">
                <a:solidFill>
                  <a:srgbClr val="231F20"/>
                </a:solidFill>
                <a:latin typeface="Oswald Bold"/>
              </a:rPr>
              <a:t>		OUTLIERS </a:t>
            </a:r>
            <a:r>
              <a:rPr lang="en-US" sz="9981" spc="978" dirty="0">
                <a:solidFill>
                  <a:srgbClr val="231F20"/>
                </a:solidFill>
                <a:latin typeface="Oswald Bold"/>
              </a:rPr>
              <a:t>TREATMENT</a:t>
            </a:r>
          </a:p>
        </p:txBody>
      </p:sp>
      <p:sp>
        <p:nvSpPr>
          <p:cNvPr id="4" name="Freeform 4"/>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a:off x="2563490" y="2834783"/>
            <a:ext cx="6972462" cy="4987595"/>
          </a:xfrm>
          <a:custGeom>
            <a:avLst/>
            <a:gdLst/>
            <a:ahLst/>
            <a:cxnLst/>
            <a:rect l="l" t="t" r="r" b="b"/>
            <a:pathLst>
              <a:path w="6972462" h="4987595">
                <a:moveTo>
                  <a:pt x="0" y="0"/>
                </a:moveTo>
                <a:lnTo>
                  <a:pt x="6972462" y="0"/>
                </a:lnTo>
                <a:lnTo>
                  <a:pt x="6972462" y="4987595"/>
                </a:lnTo>
                <a:lnTo>
                  <a:pt x="0" y="4987595"/>
                </a:lnTo>
                <a:lnTo>
                  <a:pt x="0" y="0"/>
                </a:lnTo>
                <a:close/>
              </a:path>
            </a:pathLst>
          </a:custGeom>
          <a:blipFill>
            <a:blip r:embed="rId6"/>
            <a:stretch>
              <a:fillRect t="-843" b="-843"/>
            </a:stretch>
          </a:blipFill>
        </p:spPr>
      </p:sp>
      <p:sp>
        <p:nvSpPr>
          <p:cNvPr id="6" name="Freeform 6"/>
          <p:cNvSpPr/>
          <p:nvPr/>
        </p:nvSpPr>
        <p:spPr>
          <a:xfrm>
            <a:off x="10652654" y="2834783"/>
            <a:ext cx="6965565" cy="4987595"/>
          </a:xfrm>
          <a:custGeom>
            <a:avLst/>
            <a:gdLst/>
            <a:ahLst/>
            <a:cxnLst/>
            <a:rect l="l" t="t" r="r" b="b"/>
            <a:pathLst>
              <a:path w="6965565" h="4987595">
                <a:moveTo>
                  <a:pt x="0" y="0"/>
                </a:moveTo>
                <a:lnTo>
                  <a:pt x="6965564" y="0"/>
                </a:lnTo>
                <a:lnTo>
                  <a:pt x="6965564" y="4987595"/>
                </a:lnTo>
                <a:lnTo>
                  <a:pt x="0" y="4987595"/>
                </a:lnTo>
                <a:lnTo>
                  <a:pt x="0" y="0"/>
                </a:lnTo>
                <a:close/>
              </a:path>
            </a:pathLst>
          </a:custGeom>
          <a:blipFill>
            <a:blip r:embed="rId7"/>
            <a:stretch>
              <a:fillRect l="-494" t="-137" b="-137"/>
            </a:stretch>
          </a:blipFill>
        </p:spPr>
      </p:sp>
      <p:sp>
        <p:nvSpPr>
          <p:cNvPr id="7" name="TextBox 7"/>
          <p:cNvSpPr txBox="1"/>
          <p:nvPr/>
        </p:nvSpPr>
        <p:spPr>
          <a:xfrm>
            <a:off x="3735920" y="8224819"/>
            <a:ext cx="4627602" cy="688974"/>
          </a:xfrm>
          <a:prstGeom prst="rect">
            <a:avLst/>
          </a:prstGeom>
        </p:spPr>
        <p:txBody>
          <a:bodyPr lIns="0" tIns="0" rIns="0" bIns="0" rtlCol="0" anchor="t">
            <a:spAutoFit/>
          </a:bodyPr>
          <a:lstStyle/>
          <a:p>
            <a:pPr algn="ctr">
              <a:lnSpc>
                <a:spcPts val="5600"/>
              </a:lnSpc>
            </a:pPr>
            <a:r>
              <a:rPr lang="en-US" sz="4000">
                <a:solidFill>
                  <a:srgbClr val="231F20"/>
                </a:solidFill>
                <a:latin typeface="Canva Sans Bold"/>
              </a:rPr>
              <a:t>BEFORE OUTLIERS</a:t>
            </a:r>
          </a:p>
        </p:txBody>
      </p:sp>
      <p:sp>
        <p:nvSpPr>
          <p:cNvPr id="8" name="TextBox 8"/>
          <p:cNvSpPr txBox="1"/>
          <p:nvPr/>
        </p:nvSpPr>
        <p:spPr>
          <a:xfrm>
            <a:off x="12025351" y="8224819"/>
            <a:ext cx="4220170" cy="688974"/>
          </a:xfrm>
          <a:prstGeom prst="rect">
            <a:avLst/>
          </a:prstGeom>
        </p:spPr>
        <p:txBody>
          <a:bodyPr lIns="0" tIns="0" rIns="0" bIns="0" rtlCol="0" anchor="t">
            <a:spAutoFit/>
          </a:bodyPr>
          <a:lstStyle/>
          <a:p>
            <a:pPr algn="ctr">
              <a:lnSpc>
                <a:spcPts val="5600"/>
              </a:lnSpc>
            </a:pPr>
            <a:r>
              <a:rPr lang="en-US" sz="4000">
                <a:solidFill>
                  <a:srgbClr val="231F20"/>
                </a:solidFill>
                <a:latin typeface="Canva Sans Bold"/>
              </a:rPr>
              <a:t>AFTER OUTLIERS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441230" y="6372717"/>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533400" y="-171450"/>
            <a:ext cx="19431000" cy="1769715"/>
          </a:xfrm>
          <a:prstGeom prst="rect">
            <a:avLst/>
          </a:prstGeom>
        </p:spPr>
        <p:txBody>
          <a:bodyPr wrap="square" lIns="0" tIns="0" rIns="0" bIns="0" rtlCol="0" anchor="t">
            <a:spAutoFit/>
          </a:bodyPr>
          <a:lstStyle/>
          <a:p>
            <a:pPr algn="ctr">
              <a:lnSpc>
                <a:spcPts val="13774"/>
              </a:lnSpc>
            </a:pPr>
            <a:r>
              <a:rPr lang="en-US" sz="9981" spc="978" dirty="0" smtClean="0">
                <a:solidFill>
                  <a:srgbClr val="231F20"/>
                </a:solidFill>
                <a:latin typeface="Oswald Bold"/>
              </a:rPr>
              <a:t> OUTLIERS </a:t>
            </a:r>
            <a:r>
              <a:rPr lang="en-US" sz="9981" spc="978" dirty="0">
                <a:solidFill>
                  <a:srgbClr val="231F20"/>
                </a:solidFill>
                <a:latin typeface="Oswald Bold"/>
              </a:rPr>
              <a:t>TREATMENT</a:t>
            </a:r>
          </a:p>
        </p:txBody>
      </p:sp>
      <p:sp>
        <p:nvSpPr>
          <p:cNvPr id="4" name="Freeform 4"/>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a:off x="2670204" y="2396633"/>
            <a:ext cx="7286027" cy="5493735"/>
          </a:xfrm>
          <a:custGeom>
            <a:avLst/>
            <a:gdLst/>
            <a:ahLst/>
            <a:cxnLst/>
            <a:rect l="l" t="t" r="r" b="b"/>
            <a:pathLst>
              <a:path w="7286027" h="5493735">
                <a:moveTo>
                  <a:pt x="0" y="0"/>
                </a:moveTo>
                <a:lnTo>
                  <a:pt x="7286028" y="0"/>
                </a:lnTo>
                <a:lnTo>
                  <a:pt x="7286028" y="5493734"/>
                </a:lnTo>
                <a:lnTo>
                  <a:pt x="0" y="5493734"/>
                </a:lnTo>
                <a:lnTo>
                  <a:pt x="0" y="0"/>
                </a:lnTo>
                <a:close/>
              </a:path>
            </a:pathLst>
          </a:custGeom>
          <a:blipFill>
            <a:blip r:embed="rId6"/>
            <a:stretch>
              <a:fillRect l="-2262" r="-2262"/>
            </a:stretch>
          </a:blipFill>
        </p:spPr>
      </p:sp>
      <p:sp>
        <p:nvSpPr>
          <p:cNvPr id="6" name="Freeform 6"/>
          <p:cNvSpPr/>
          <p:nvPr/>
        </p:nvSpPr>
        <p:spPr>
          <a:xfrm>
            <a:off x="10961519" y="2396633"/>
            <a:ext cx="6996348" cy="5493735"/>
          </a:xfrm>
          <a:custGeom>
            <a:avLst/>
            <a:gdLst/>
            <a:ahLst/>
            <a:cxnLst/>
            <a:rect l="l" t="t" r="r" b="b"/>
            <a:pathLst>
              <a:path w="6996348" h="5493735">
                <a:moveTo>
                  <a:pt x="0" y="0"/>
                </a:moveTo>
                <a:lnTo>
                  <a:pt x="6996349" y="0"/>
                </a:lnTo>
                <a:lnTo>
                  <a:pt x="6996349" y="5493734"/>
                </a:lnTo>
                <a:lnTo>
                  <a:pt x="0" y="5493734"/>
                </a:lnTo>
                <a:lnTo>
                  <a:pt x="0" y="0"/>
                </a:lnTo>
                <a:close/>
              </a:path>
            </a:pathLst>
          </a:custGeom>
          <a:blipFill>
            <a:blip r:embed="rId7"/>
            <a:stretch>
              <a:fillRect l="-2787" r="-2787"/>
            </a:stretch>
          </a:blipFill>
        </p:spPr>
      </p:sp>
      <p:sp>
        <p:nvSpPr>
          <p:cNvPr id="7" name="TextBox 7"/>
          <p:cNvSpPr txBox="1"/>
          <p:nvPr/>
        </p:nvSpPr>
        <p:spPr>
          <a:xfrm>
            <a:off x="3999417" y="8090873"/>
            <a:ext cx="4627602" cy="688974"/>
          </a:xfrm>
          <a:prstGeom prst="rect">
            <a:avLst/>
          </a:prstGeom>
        </p:spPr>
        <p:txBody>
          <a:bodyPr lIns="0" tIns="0" rIns="0" bIns="0" rtlCol="0" anchor="t">
            <a:spAutoFit/>
          </a:bodyPr>
          <a:lstStyle/>
          <a:p>
            <a:pPr algn="ctr">
              <a:lnSpc>
                <a:spcPts val="5600"/>
              </a:lnSpc>
            </a:pPr>
            <a:r>
              <a:rPr lang="en-US" sz="4000">
                <a:solidFill>
                  <a:srgbClr val="231F20"/>
                </a:solidFill>
                <a:latin typeface="Canva Sans Bold"/>
              </a:rPr>
              <a:t>BEFORE OUTLIERS</a:t>
            </a:r>
          </a:p>
        </p:txBody>
      </p:sp>
      <p:sp>
        <p:nvSpPr>
          <p:cNvPr id="8" name="TextBox 8"/>
          <p:cNvSpPr txBox="1"/>
          <p:nvPr/>
        </p:nvSpPr>
        <p:spPr>
          <a:xfrm>
            <a:off x="12349608" y="8090873"/>
            <a:ext cx="4220170" cy="688974"/>
          </a:xfrm>
          <a:prstGeom prst="rect">
            <a:avLst/>
          </a:prstGeom>
        </p:spPr>
        <p:txBody>
          <a:bodyPr lIns="0" tIns="0" rIns="0" bIns="0" rtlCol="0" anchor="t">
            <a:spAutoFit/>
          </a:bodyPr>
          <a:lstStyle/>
          <a:p>
            <a:pPr algn="ctr">
              <a:lnSpc>
                <a:spcPts val="5600"/>
              </a:lnSpc>
            </a:pPr>
            <a:r>
              <a:rPr lang="en-US" sz="4000">
                <a:solidFill>
                  <a:srgbClr val="231F20"/>
                </a:solidFill>
                <a:latin typeface="Canva Sans Bold"/>
              </a:rPr>
              <a:t>AFTER OUTLIERS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15626816"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4811846" y="-5785742"/>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aphicFrame>
        <p:nvGraphicFramePr>
          <p:cNvPr id="4" name="Table 4"/>
          <p:cNvGraphicFramePr>
            <a:graphicFrameLocks noGrp="1"/>
          </p:cNvGraphicFramePr>
          <p:nvPr/>
        </p:nvGraphicFramePr>
        <p:xfrm>
          <a:off x="2070774" y="1028700"/>
          <a:ext cx="14146450" cy="9115426"/>
        </p:xfrm>
        <a:graphic>
          <a:graphicData uri="http://schemas.openxmlformats.org/drawingml/2006/table">
            <a:tbl>
              <a:tblPr/>
              <a:tblGrid>
                <a:gridCol w="2829290">
                  <a:extLst>
                    <a:ext uri="{9D8B030D-6E8A-4147-A177-3AD203B41FA5}">
                      <a16:colId xmlns:a16="http://schemas.microsoft.com/office/drawing/2014/main" val="20000"/>
                    </a:ext>
                  </a:extLst>
                </a:gridCol>
                <a:gridCol w="2829290">
                  <a:extLst>
                    <a:ext uri="{9D8B030D-6E8A-4147-A177-3AD203B41FA5}">
                      <a16:colId xmlns:a16="http://schemas.microsoft.com/office/drawing/2014/main" val="20001"/>
                    </a:ext>
                  </a:extLst>
                </a:gridCol>
                <a:gridCol w="2829290">
                  <a:extLst>
                    <a:ext uri="{9D8B030D-6E8A-4147-A177-3AD203B41FA5}">
                      <a16:colId xmlns:a16="http://schemas.microsoft.com/office/drawing/2014/main" val="20002"/>
                    </a:ext>
                  </a:extLst>
                </a:gridCol>
                <a:gridCol w="2829290">
                  <a:extLst>
                    <a:ext uri="{9D8B030D-6E8A-4147-A177-3AD203B41FA5}">
                      <a16:colId xmlns:a16="http://schemas.microsoft.com/office/drawing/2014/main" val="20003"/>
                    </a:ext>
                  </a:extLst>
                </a:gridCol>
                <a:gridCol w="2829290">
                  <a:extLst>
                    <a:ext uri="{9D8B030D-6E8A-4147-A177-3AD203B41FA5}">
                      <a16:colId xmlns:a16="http://schemas.microsoft.com/office/drawing/2014/main" val="20004"/>
                    </a:ext>
                  </a:extLst>
                </a:gridCol>
              </a:tblGrid>
              <a:tr h="1059933">
                <a:tc>
                  <a:txBody>
                    <a:bodyPr/>
                    <a:lstStyle/>
                    <a:p>
                      <a:pPr algn="ctr">
                        <a:lnSpc>
                          <a:spcPts val="2100"/>
                        </a:lnSpc>
                        <a:defRPr/>
                      </a:pP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919"/>
                        </a:lnSpc>
                        <a:defRPr/>
                      </a:pPr>
                      <a:r>
                        <a:rPr lang="en-US" sz="2799">
                          <a:solidFill>
                            <a:srgbClr val="000000"/>
                          </a:solidFill>
                          <a:latin typeface="Open Sauce Bold"/>
                        </a:rPr>
                        <a:t>Modelname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919"/>
                        </a:lnSpc>
                        <a:defRPr/>
                      </a:pPr>
                      <a:r>
                        <a:rPr lang="en-US" sz="2799">
                          <a:solidFill>
                            <a:srgbClr val="000000"/>
                          </a:solidFill>
                          <a:latin typeface="Open Sauce Bold"/>
                        </a:rPr>
                        <a:t>R-square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919"/>
                        </a:lnSpc>
                        <a:defRPr/>
                      </a:pPr>
                      <a:r>
                        <a:rPr lang="en-US" sz="2799">
                          <a:solidFill>
                            <a:srgbClr val="000000"/>
                          </a:solidFill>
                          <a:latin typeface="Open Sauce Bold"/>
                        </a:rPr>
                        <a:t>Adj-R2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919"/>
                        </a:lnSpc>
                        <a:defRPr/>
                      </a:pPr>
                      <a:r>
                        <a:rPr lang="en-US" sz="2799">
                          <a:solidFill>
                            <a:srgbClr val="000000"/>
                          </a:solidFill>
                          <a:latin typeface="Open Sauce Bold"/>
                        </a:rPr>
                        <a:t>MSE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extLst>
                  <a:ext uri="{0D108BD9-81ED-4DB2-BD59-A6C34878D82A}">
                    <a16:rowId xmlns:a16="http://schemas.microsoft.com/office/drawing/2014/main" val="10000"/>
                  </a:ext>
                </a:extLst>
              </a:tr>
              <a:tr h="1093405">
                <a:tc>
                  <a:txBody>
                    <a:bodyPr/>
                    <a:lstStyle/>
                    <a:p>
                      <a:pPr algn="ctr">
                        <a:lnSpc>
                          <a:spcPts val="4199"/>
                        </a:lnSpc>
                        <a:defRPr/>
                      </a:pPr>
                      <a:r>
                        <a:rPr lang="en-US" sz="2999">
                          <a:solidFill>
                            <a:srgbClr val="000000"/>
                          </a:solidFill>
                          <a:latin typeface="Open Sauce"/>
                        </a:rPr>
                        <a:t>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Linear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0.870791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1.071947e+07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1"/>
                  </a:ext>
                </a:extLst>
              </a:tr>
              <a:tr h="1093405">
                <a:tc>
                  <a:txBody>
                    <a:bodyPr/>
                    <a:lstStyle/>
                    <a:p>
                      <a:pPr algn="ctr">
                        <a:lnSpc>
                          <a:spcPts val="4199"/>
                        </a:lnSpc>
                        <a:defRPr/>
                      </a:pPr>
                      <a:r>
                        <a:rPr lang="en-US" sz="2999">
                          <a:solidFill>
                            <a:srgbClr val="000000"/>
                          </a:solidFill>
                          <a:latin typeface="Open Sauce"/>
                        </a:rPr>
                        <a:t>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Lasso</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0.870791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1.071942e+07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2"/>
                  </a:ext>
                </a:extLst>
              </a:tr>
              <a:tr h="1093405">
                <a:tc>
                  <a:txBody>
                    <a:bodyPr/>
                    <a:lstStyle/>
                    <a:p>
                      <a:pPr algn="ctr">
                        <a:lnSpc>
                          <a:spcPts val="4199"/>
                        </a:lnSpc>
                        <a:defRPr/>
                      </a:pPr>
                      <a:r>
                        <a:rPr lang="en-US" sz="2999">
                          <a:solidFill>
                            <a:srgbClr val="000000"/>
                          </a:solidFill>
                          <a:latin typeface="Open Sauce"/>
                        </a:rPr>
                        <a:t>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Ridge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0.870791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1.071947e+07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3"/>
                  </a:ext>
                </a:extLst>
              </a:tr>
              <a:tr h="1294234">
                <a:tc>
                  <a:txBody>
                    <a:bodyPr/>
                    <a:lstStyle/>
                    <a:p>
                      <a:pPr algn="ctr">
                        <a:lnSpc>
                          <a:spcPts val="4199"/>
                        </a:lnSpc>
                        <a:defRPr/>
                      </a:pPr>
                      <a:r>
                        <a:rPr lang="en-US" sz="2999">
                          <a:solidFill>
                            <a:srgbClr val="000000"/>
                          </a:solidFill>
                          <a:latin typeface="Open Sauce"/>
                        </a:rPr>
                        <a:t>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Adaboost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0.586463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0.586452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3.826624e+07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4"/>
                  </a:ext>
                </a:extLst>
              </a:tr>
              <a:tr h="1294234">
                <a:tc>
                  <a:txBody>
                    <a:bodyPr/>
                    <a:lstStyle/>
                    <a:p>
                      <a:pPr algn="ctr">
                        <a:lnSpc>
                          <a:spcPts val="4199"/>
                        </a:lnSpc>
                        <a:defRPr/>
                      </a:pPr>
                      <a:r>
                        <a:rPr lang="en-US" sz="2999">
                          <a:solidFill>
                            <a:srgbClr val="000000"/>
                          </a:solidFill>
                          <a:latin typeface="Open Sauce"/>
                        </a:rPr>
                        <a:t>5</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Gradient Boost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0.959598</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0.959597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3.338397e+06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5"/>
                  </a:ext>
                </a:extLst>
              </a:tr>
              <a:tr h="1093405">
                <a:tc>
                  <a:txBody>
                    <a:bodyPr/>
                    <a:lstStyle/>
                    <a:p>
                      <a:pPr algn="ctr">
                        <a:lnSpc>
                          <a:spcPts val="4199"/>
                        </a:lnSpc>
                        <a:defRPr/>
                      </a:pPr>
                      <a:r>
                        <a:rPr lang="en-US" sz="2999">
                          <a:solidFill>
                            <a:srgbClr val="000000"/>
                          </a:solidFill>
                          <a:latin typeface="Open Sauce"/>
                        </a:rPr>
                        <a:t>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RF-Regressor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0.995572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0.995571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2.730634e+06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6"/>
                  </a:ext>
                </a:extLst>
              </a:tr>
              <a:tr h="1093405">
                <a:tc>
                  <a:txBody>
                    <a:bodyPr/>
                    <a:lstStyle/>
                    <a:p>
                      <a:pPr algn="ctr">
                        <a:lnSpc>
                          <a:spcPts val="4199"/>
                        </a:lnSpc>
                        <a:defRPr/>
                      </a:pPr>
                      <a:r>
                        <a:rPr lang="en-US" sz="2999">
                          <a:solidFill>
                            <a:srgbClr val="000000"/>
                          </a:solidFill>
                          <a:latin typeface="Open Sauce"/>
                        </a:rPr>
                        <a:t>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799"/>
                        </a:lnSpc>
                        <a:defRPr/>
                      </a:pPr>
                      <a:r>
                        <a:rPr lang="en-US" sz="1999">
                          <a:solidFill>
                            <a:srgbClr val="000000"/>
                          </a:solidFill>
                          <a:latin typeface="Open Sauce"/>
                        </a:rPr>
                        <a:t>XGB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a:solidFill>
                            <a:srgbClr val="000000"/>
                          </a:solidFill>
                          <a:latin typeface="Open Sauce"/>
                        </a:rPr>
                        <a:t>0.974264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dirty="0">
                          <a:solidFill>
                            <a:srgbClr val="000000"/>
                          </a:solidFill>
                          <a:latin typeface="Open Sauce"/>
                        </a:rPr>
                        <a:t>0.974263</a:t>
                      </a:r>
                      <a:endParaRPr lang="en-US" sz="11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799"/>
                        </a:lnSpc>
                        <a:defRPr/>
                      </a:pPr>
                      <a:r>
                        <a:rPr lang="en-US" sz="1999" dirty="0">
                          <a:solidFill>
                            <a:srgbClr val="000000"/>
                          </a:solidFill>
                          <a:latin typeface="Open Sauce"/>
                        </a:rPr>
                        <a:t>2.902614e+06</a:t>
                      </a:r>
                      <a:endParaRPr lang="en-US" sz="11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7"/>
                  </a:ext>
                </a:extLst>
              </a:tr>
            </a:tbl>
          </a:graphicData>
        </a:graphic>
      </p:graphicFrame>
      <p:sp>
        <p:nvSpPr>
          <p:cNvPr id="5" name="TextBox 5"/>
          <p:cNvSpPr txBox="1"/>
          <p:nvPr/>
        </p:nvSpPr>
        <p:spPr>
          <a:xfrm>
            <a:off x="7751683" y="-114300"/>
            <a:ext cx="2784634" cy="1028688"/>
          </a:xfrm>
          <a:prstGeom prst="rect">
            <a:avLst/>
          </a:prstGeom>
        </p:spPr>
        <p:txBody>
          <a:bodyPr lIns="0" tIns="0" rIns="0" bIns="0" rtlCol="0" anchor="t">
            <a:spAutoFit/>
          </a:bodyPr>
          <a:lstStyle/>
          <a:p>
            <a:pPr algn="ctr">
              <a:lnSpc>
                <a:spcPts val="8400"/>
              </a:lnSpc>
            </a:pPr>
            <a:r>
              <a:rPr lang="en-US" sz="6000">
                <a:solidFill>
                  <a:srgbClr val="000000"/>
                </a:solidFill>
                <a:latin typeface="Canva Sans Bold"/>
              </a:rPr>
              <a:t>MODEL</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TextBox 6"/>
          <p:cNvSpPr txBox="1"/>
          <p:nvPr/>
        </p:nvSpPr>
        <p:spPr>
          <a:xfrm>
            <a:off x="-1295400" y="310974"/>
            <a:ext cx="20878800" cy="1507336"/>
          </a:xfrm>
          <a:prstGeom prst="rect">
            <a:avLst/>
          </a:prstGeom>
        </p:spPr>
        <p:txBody>
          <a:bodyPr wrap="square" lIns="0" tIns="0" rIns="0" bIns="0" rtlCol="0" anchor="t">
            <a:spAutoFit/>
          </a:bodyPr>
          <a:lstStyle/>
          <a:p>
            <a:pPr algn="ctr">
              <a:lnSpc>
                <a:spcPts val="13774"/>
              </a:lnSpc>
            </a:pPr>
            <a:r>
              <a:rPr lang="en-US" sz="6000" spc="978" dirty="0">
                <a:solidFill>
                  <a:srgbClr val="231F20"/>
                </a:solidFill>
                <a:latin typeface="Oswald Bold"/>
              </a:rPr>
              <a:t>CONCLUSION </a:t>
            </a:r>
            <a:r>
              <a:rPr lang="en-US" sz="6000" spc="978" dirty="0" smtClean="0">
                <a:solidFill>
                  <a:srgbClr val="231F20"/>
                </a:solidFill>
                <a:latin typeface="Oswald Bold"/>
              </a:rPr>
              <a:t>FROM MODEL AFTER OUTLIERS</a:t>
            </a:r>
            <a:endParaRPr lang="en-US" sz="6000" spc="978" dirty="0">
              <a:solidFill>
                <a:srgbClr val="231F20"/>
              </a:solidFill>
              <a:latin typeface="Oswald Bold"/>
            </a:endParaRPr>
          </a:p>
        </p:txBody>
      </p:sp>
      <p:sp>
        <p:nvSpPr>
          <p:cNvPr id="7"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2" name="Group 3"/>
          <p:cNvGrpSpPr/>
          <p:nvPr/>
        </p:nvGrpSpPr>
        <p:grpSpPr>
          <a:xfrm>
            <a:off x="4994922" y="3455640"/>
            <a:ext cx="1400485" cy="1459260"/>
            <a:chOff x="0" y="0"/>
            <a:chExt cx="368852" cy="795046"/>
          </a:xfrm>
        </p:grpSpPr>
        <p:sp>
          <p:nvSpPr>
            <p:cNvPr id="13" name="Freeform 4"/>
            <p:cNvSpPr/>
            <p:nvPr/>
          </p:nvSpPr>
          <p:spPr>
            <a:xfrm>
              <a:off x="0" y="0"/>
              <a:ext cx="368852" cy="795046"/>
            </a:xfrm>
            <a:custGeom>
              <a:avLst/>
              <a:gdLst/>
              <a:ahLst/>
              <a:cxnLst/>
              <a:rect l="l" t="t" r="r" b="b"/>
              <a:pathLst>
                <a:path w="368852" h="795046">
                  <a:moveTo>
                    <a:pt x="0" y="0"/>
                  </a:moveTo>
                  <a:lnTo>
                    <a:pt x="368852" y="0"/>
                  </a:lnTo>
                  <a:lnTo>
                    <a:pt x="368852" y="795046"/>
                  </a:lnTo>
                  <a:lnTo>
                    <a:pt x="0" y="795046"/>
                  </a:lnTo>
                  <a:close/>
                </a:path>
              </a:pathLst>
            </a:custGeom>
            <a:solidFill>
              <a:srgbClr val="CCCCCC"/>
            </a:solidFill>
          </p:spPr>
        </p:sp>
        <p:sp>
          <p:nvSpPr>
            <p:cNvPr id="14" name="TextBox 5"/>
            <p:cNvSpPr txBox="1"/>
            <p:nvPr/>
          </p:nvSpPr>
          <p:spPr>
            <a:xfrm>
              <a:off x="0" y="-19050"/>
              <a:ext cx="368852" cy="814096"/>
            </a:xfrm>
            <a:prstGeom prst="rect">
              <a:avLst/>
            </a:prstGeom>
          </p:spPr>
          <p:txBody>
            <a:bodyPr lIns="50800" tIns="50800" rIns="50800" bIns="50800" rtlCol="0" anchor="ctr"/>
            <a:lstStyle/>
            <a:p>
              <a:pPr algn="ctr">
                <a:lnSpc>
                  <a:spcPts val="2859"/>
                </a:lnSpc>
              </a:pPr>
              <a:endParaRPr/>
            </a:p>
          </p:txBody>
        </p:sp>
      </p:grpSp>
      <p:sp>
        <p:nvSpPr>
          <p:cNvPr id="15" name="TextBox 8"/>
          <p:cNvSpPr txBox="1"/>
          <p:nvPr/>
        </p:nvSpPr>
        <p:spPr>
          <a:xfrm>
            <a:off x="5231353" y="3777919"/>
            <a:ext cx="937219" cy="654025"/>
          </a:xfrm>
          <a:prstGeom prst="rect">
            <a:avLst/>
          </a:prstGeom>
        </p:spPr>
        <p:txBody>
          <a:bodyPr lIns="0" tIns="0" rIns="0" bIns="0" rtlCol="0" anchor="t">
            <a:spAutoFit/>
          </a:bodyPr>
          <a:lstStyle/>
          <a:p>
            <a:pPr algn="ctr">
              <a:lnSpc>
                <a:spcPts val="5126"/>
              </a:lnSpc>
            </a:pPr>
            <a:r>
              <a:rPr lang="en-US" sz="4271" dirty="0" smtClean="0">
                <a:solidFill>
                  <a:srgbClr val="363636"/>
                </a:solidFill>
                <a:latin typeface="Oswald Bold Italics"/>
              </a:rPr>
              <a:t>01</a:t>
            </a:r>
            <a:endParaRPr lang="en-US" sz="4271" dirty="0">
              <a:solidFill>
                <a:srgbClr val="363636"/>
              </a:solidFill>
              <a:latin typeface="Oswald Bold Italics"/>
            </a:endParaRPr>
          </a:p>
        </p:txBody>
      </p:sp>
      <p:sp>
        <p:nvSpPr>
          <p:cNvPr id="16" name="TextBox 10"/>
          <p:cNvSpPr txBox="1"/>
          <p:nvPr/>
        </p:nvSpPr>
        <p:spPr>
          <a:xfrm>
            <a:off x="7010400" y="3416033"/>
            <a:ext cx="9829800" cy="2988254"/>
          </a:xfrm>
          <a:prstGeom prst="rect">
            <a:avLst/>
          </a:prstGeom>
        </p:spPr>
        <p:txBody>
          <a:bodyPr wrap="square" lIns="0" tIns="0" rIns="0" bIns="0" rtlCol="0" anchor="t">
            <a:spAutoFit/>
          </a:bodyPr>
          <a:lstStyle/>
          <a:p>
            <a:pPr>
              <a:lnSpc>
                <a:spcPts val="4719"/>
              </a:lnSpc>
            </a:pPr>
            <a:r>
              <a:rPr lang="en-US" sz="3420" spc="335" dirty="0" smtClean="0">
                <a:solidFill>
                  <a:srgbClr val="231F20"/>
                </a:solidFill>
                <a:latin typeface="DM Sans"/>
              </a:rPr>
              <a:t>From the model after outliers we can conclude that XGB </a:t>
            </a:r>
            <a:r>
              <a:rPr lang="en-US" sz="3420" spc="335" dirty="0" err="1" smtClean="0">
                <a:solidFill>
                  <a:srgbClr val="231F20"/>
                </a:solidFill>
                <a:latin typeface="DM Sans"/>
              </a:rPr>
              <a:t>regressor</a:t>
            </a:r>
            <a:r>
              <a:rPr lang="en-US" sz="3420" spc="335" dirty="0" smtClean="0">
                <a:solidFill>
                  <a:srgbClr val="231F20"/>
                </a:solidFill>
                <a:latin typeface="DM Sans"/>
              </a:rPr>
              <a:t> gives the best result with  the adjacent </a:t>
            </a:r>
            <a:r>
              <a:rPr lang="en-US" sz="3420" spc="335" dirty="0">
                <a:solidFill>
                  <a:srgbClr val="231F20"/>
                </a:solidFill>
                <a:latin typeface="DM Sans"/>
              </a:rPr>
              <a:t>R2 of 0.974263 and MSE of </a:t>
            </a:r>
            <a:r>
              <a:rPr lang="en-US" sz="3420" spc="335" dirty="0" smtClean="0">
                <a:solidFill>
                  <a:srgbClr val="231F20"/>
                </a:solidFill>
                <a:latin typeface="DM Sans"/>
              </a:rPr>
              <a:t>2.902614e+06.</a:t>
            </a:r>
            <a:endParaRPr lang="en-US" sz="3420" spc="335" dirty="0">
              <a:solidFill>
                <a:srgbClr val="231F20"/>
              </a:solidFill>
              <a:latin typeface="DM Sans"/>
            </a:endParaRPr>
          </a:p>
          <a:p>
            <a:pPr>
              <a:lnSpc>
                <a:spcPts val="4719"/>
              </a:lnSpc>
            </a:pPr>
            <a:endParaRPr lang="en-US" sz="3420" spc="335" dirty="0">
              <a:solidFill>
                <a:srgbClr val="231F20"/>
              </a:solidFill>
              <a:latin typeface="DM Sans"/>
            </a:endParaRPr>
          </a:p>
        </p:txBody>
      </p:sp>
    </p:spTree>
    <p:extLst>
      <p:ext uri="{BB962C8B-B14F-4D97-AF65-F5344CB8AC3E}">
        <p14:creationId xmlns:p14="http://schemas.microsoft.com/office/powerpoint/2010/main" val="339056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4531110" y="3225547"/>
            <a:ext cx="1400485" cy="1187013"/>
            <a:chOff x="0" y="0"/>
            <a:chExt cx="368852" cy="312629"/>
          </a:xfrm>
        </p:grpSpPr>
        <p:sp>
          <p:nvSpPr>
            <p:cNvPr id="4" name="Freeform 4"/>
            <p:cNvSpPr/>
            <p:nvPr/>
          </p:nvSpPr>
          <p:spPr>
            <a:xfrm>
              <a:off x="0" y="0"/>
              <a:ext cx="368852" cy="312629"/>
            </a:xfrm>
            <a:custGeom>
              <a:avLst/>
              <a:gdLst/>
              <a:ahLst/>
              <a:cxnLst/>
              <a:rect l="l" t="t" r="r" b="b"/>
              <a:pathLst>
                <a:path w="368852" h="312629">
                  <a:moveTo>
                    <a:pt x="0" y="0"/>
                  </a:moveTo>
                  <a:lnTo>
                    <a:pt x="368852" y="0"/>
                  </a:lnTo>
                  <a:lnTo>
                    <a:pt x="368852" y="312629"/>
                  </a:lnTo>
                  <a:lnTo>
                    <a:pt x="0" y="312629"/>
                  </a:lnTo>
                  <a:close/>
                </a:path>
              </a:pathLst>
            </a:custGeom>
            <a:solidFill>
              <a:srgbClr val="CCCCCC"/>
            </a:solidFill>
          </p:spPr>
        </p:sp>
        <p:sp>
          <p:nvSpPr>
            <p:cNvPr id="5" name="TextBox 5"/>
            <p:cNvSpPr txBox="1"/>
            <p:nvPr/>
          </p:nvSpPr>
          <p:spPr>
            <a:xfrm>
              <a:off x="0" y="-19050"/>
              <a:ext cx="368852" cy="331679"/>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846824" y="-171450"/>
            <a:ext cx="15542704" cy="1769715"/>
          </a:xfrm>
          <a:prstGeom prst="rect">
            <a:avLst/>
          </a:prstGeom>
        </p:spPr>
        <p:txBody>
          <a:bodyPr lIns="0" tIns="0" rIns="0" bIns="0" rtlCol="0" anchor="t">
            <a:spAutoFit/>
          </a:bodyPr>
          <a:lstStyle/>
          <a:p>
            <a:pPr algn="ctr">
              <a:lnSpc>
                <a:spcPts val="13774"/>
              </a:lnSpc>
            </a:pPr>
            <a:r>
              <a:rPr lang="en-US" sz="9981" spc="978" dirty="0" smtClean="0">
                <a:solidFill>
                  <a:srgbClr val="231F20"/>
                </a:solidFill>
                <a:latin typeface="Oswald Bold"/>
              </a:rPr>
              <a:t>     FEATURE </a:t>
            </a:r>
            <a:r>
              <a:rPr lang="en-US" sz="9981" spc="978" dirty="0">
                <a:solidFill>
                  <a:srgbClr val="231F20"/>
                </a:solidFill>
                <a:latin typeface="Oswald Bold"/>
              </a:rPr>
              <a:t>SELECTION</a:t>
            </a:r>
          </a:p>
        </p:txBody>
      </p:sp>
      <p:sp>
        <p:nvSpPr>
          <p:cNvPr id="7"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TextBox 8"/>
          <p:cNvSpPr txBox="1"/>
          <p:nvPr/>
        </p:nvSpPr>
        <p:spPr>
          <a:xfrm>
            <a:off x="4762743" y="3485679"/>
            <a:ext cx="937219" cy="657225"/>
          </a:xfrm>
          <a:prstGeom prst="rect">
            <a:avLst/>
          </a:prstGeom>
        </p:spPr>
        <p:txBody>
          <a:bodyPr lIns="0" tIns="0" rIns="0" bIns="0" rtlCol="0" anchor="t">
            <a:spAutoFit/>
          </a:bodyPr>
          <a:lstStyle/>
          <a:p>
            <a:pPr algn="ctr">
              <a:lnSpc>
                <a:spcPts val="5126"/>
              </a:lnSpc>
            </a:pPr>
            <a:r>
              <a:rPr lang="en-US" sz="4271" dirty="0">
                <a:solidFill>
                  <a:srgbClr val="363636"/>
                </a:solidFill>
                <a:latin typeface="Oswald Bold Italics"/>
              </a:rPr>
              <a:t>01</a:t>
            </a:r>
          </a:p>
        </p:txBody>
      </p:sp>
      <p:sp>
        <p:nvSpPr>
          <p:cNvPr id="9" name="TextBox 9"/>
          <p:cNvSpPr txBox="1"/>
          <p:nvPr/>
        </p:nvSpPr>
        <p:spPr>
          <a:xfrm>
            <a:off x="6687798" y="3149347"/>
            <a:ext cx="9514206" cy="2062945"/>
          </a:xfrm>
          <a:prstGeom prst="rect">
            <a:avLst/>
          </a:prstGeom>
        </p:spPr>
        <p:txBody>
          <a:bodyPr lIns="0" tIns="0" rIns="0" bIns="0" rtlCol="0" anchor="t">
            <a:spAutoFit/>
          </a:bodyPr>
          <a:lstStyle/>
          <a:p>
            <a:pPr>
              <a:lnSpc>
                <a:spcPts val="5553"/>
              </a:lnSpc>
            </a:pPr>
            <a:r>
              <a:rPr lang="en-US" sz="4024" spc="394" dirty="0">
                <a:solidFill>
                  <a:srgbClr val="231F20"/>
                </a:solidFill>
                <a:latin typeface="DM Sans Bold"/>
              </a:rPr>
              <a:t>USING LASSO COEFFICIENTS FROM LASSO REGRESSION</a:t>
            </a:r>
          </a:p>
          <a:p>
            <a:pPr>
              <a:lnSpc>
                <a:spcPts val="5277"/>
              </a:lnSpc>
            </a:pPr>
            <a:endParaRPr lang="en-US" sz="4024" spc="394" dirty="0">
              <a:solidFill>
                <a:srgbClr val="231F20"/>
              </a:solidFill>
              <a:latin typeface="DM Sans Bold"/>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15626816"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4811846" y="-5785742"/>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aphicFrame>
        <p:nvGraphicFramePr>
          <p:cNvPr id="4" name="Table 4"/>
          <p:cNvGraphicFramePr>
            <a:graphicFrameLocks noGrp="1"/>
          </p:cNvGraphicFramePr>
          <p:nvPr/>
        </p:nvGraphicFramePr>
        <p:xfrm>
          <a:off x="2346321" y="1381125"/>
          <a:ext cx="13870905" cy="8805870"/>
        </p:xfrm>
        <a:graphic>
          <a:graphicData uri="http://schemas.openxmlformats.org/drawingml/2006/table">
            <a:tbl>
              <a:tblPr/>
              <a:tblGrid>
                <a:gridCol w="2774181">
                  <a:extLst>
                    <a:ext uri="{9D8B030D-6E8A-4147-A177-3AD203B41FA5}">
                      <a16:colId xmlns:a16="http://schemas.microsoft.com/office/drawing/2014/main" val="20000"/>
                    </a:ext>
                  </a:extLst>
                </a:gridCol>
                <a:gridCol w="2774181">
                  <a:extLst>
                    <a:ext uri="{9D8B030D-6E8A-4147-A177-3AD203B41FA5}">
                      <a16:colId xmlns:a16="http://schemas.microsoft.com/office/drawing/2014/main" val="20001"/>
                    </a:ext>
                  </a:extLst>
                </a:gridCol>
                <a:gridCol w="2774181">
                  <a:extLst>
                    <a:ext uri="{9D8B030D-6E8A-4147-A177-3AD203B41FA5}">
                      <a16:colId xmlns:a16="http://schemas.microsoft.com/office/drawing/2014/main" val="20002"/>
                    </a:ext>
                  </a:extLst>
                </a:gridCol>
                <a:gridCol w="2774181">
                  <a:extLst>
                    <a:ext uri="{9D8B030D-6E8A-4147-A177-3AD203B41FA5}">
                      <a16:colId xmlns:a16="http://schemas.microsoft.com/office/drawing/2014/main" val="20003"/>
                    </a:ext>
                  </a:extLst>
                </a:gridCol>
                <a:gridCol w="2774181">
                  <a:extLst>
                    <a:ext uri="{9D8B030D-6E8A-4147-A177-3AD203B41FA5}">
                      <a16:colId xmlns:a16="http://schemas.microsoft.com/office/drawing/2014/main" val="20004"/>
                    </a:ext>
                  </a:extLst>
                </a:gridCol>
              </a:tblGrid>
              <a:tr h="956032">
                <a:tc>
                  <a:txBody>
                    <a:bodyPr/>
                    <a:lstStyle/>
                    <a:p>
                      <a:pPr algn="ctr">
                        <a:lnSpc>
                          <a:spcPts val="2100"/>
                        </a:lnSpc>
                        <a:defRPr/>
                      </a:pP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079"/>
                        </a:lnSpc>
                        <a:defRPr/>
                      </a:pPr>
                      <a:r>
                        <a:rPr lang="en-US" sz="2199">
                          <a:solidFill>
                            <a:srgbClr val="000000"/>
                          </a:solidFill>
                          <a:latin typeface="Open Sauce Bold"/>
                        </a:rPr>
                        <a:t>Modelname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079"/>
                        </a:lnSpc>
                        <a:defRPr/>
                      </a:pPr>
                      <a:r>
                        <a:rPr lang="en-US" sz="2199">
                          <a:solidFill>
                            <a:srgbClr val="000000"/>
                          </a:solidFill>
                          <a:latin typeface="Open Sauce Bold"/>
                        </a:rPr>
                        <a:t>R-square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079"/>
                        </a:lnSpc>
                        <a:defRPr/>
                      </a:pPr>
                      <a:r>
                        <a:rPr lang="en-US" sz="2199">
                          <a:solidFill>
                            <a:srgbClr val="000000"/>
                          </a:solidFill>
                          <a:latin typeface="Open Sauce Bold"/>
                        </a:rPr>
                        <a:t>Adj-R2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3079"/>
                        </a:lnSpc>
                        <a:defRPr/>
                      </a:pPr>
                      <a:r>
                        <a:rPr lang="en-US" sz="2199">
                          <a:solidFill>
                            <a:srgbClr val="000000"/>
                          </a:solidFill>
                          <a:latin typeface="Open Sauce Bold"/>
                        </a:rPr>
                        <a:t>MSE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extLst>
                  <a:ext uri="{0D108BD9-81ED-4DB2-BD59-A6C34878D82A}">
                    <a16:rowId xmlns:a16="http://schemas.microsoft.com/office/drawing/2014/main" val="10000"/>
                  </a:ext>
                </a:extLst>
              </a:tr>
              <a:tr h="950274">
                <a:tc>
                  <a:txBody>
                    <a:bodyPr/>
                    <a:lstStyle/>
                    <a:p>
                      <a:pPr algn="ctr">
                        <a:lnSpc>
                          <a:spcPts val="2799"/>
                        </a:lnSpc>
                        <a:defRPr/>
                      </a:pPr>
                      <a:r>
                        <a:rPr lang="en-US" sz="1999">
                          <a:solidFill>
                            <a:srgbClr val="000000"/>
                          </a:solidFill>
                          <a:latin typeface="Open Sauce"/>
                        </a:rPr>
                        <a:t>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Linear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0.870791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1.071947e+07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1"/>
                  </a:ext>
                </a:extLst>
              </a:tr>
              <a:tr h="950274">
                <a:tc>
                  <a:txBody>
                    <a:bodyPr/>
                    <a:lstStyle/>
                    <a:p>
                      <a:pPr algn="ctr">
                        <a:lnSpc>
                          <a:spcPts val="2799"/>
                        </a:lnSpc>
                        <a:defRPr/>
                      </a:pPr>
                      <a:r>
                        <a:rPr lang="en-US" sz="1999">
                          <a:solidFill>
                            <a:srgbClr val="000000"/>
                          </a:solidFill>
                          <a:latin typeface="Open Sauce"/>
                        </a:rPr>
                        <a:t>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Lasso</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0.870791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1.071942e+07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2"/>
                  </a:ext>
                </a:extLst>
              </a:tr>
              <a:tr h="950274">
                <a:tc>
                  <a:txBody>
                    <a:bodyPr/>
                    <a:lstStyle/>
                    <a:p>
                      <a:pPr algn="ctr">
                        <a:lnSpc>
                          <a:spcPts val="2799"/>
                        </a:lnSpc>
                        <a:defRPr/>
                      </a:pPr>
                      <a:r>
                        <a:rPr lang="en-US" sz="1999">
                          <a:solidFill>
                            <a:srgbClr val="000000"/>
                          </a:solidFill>
                          <a:latin typeface="Open Sauce"/>
                        </a:rPr>
                        <a:t>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Ridge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0.870791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0.969656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3.826624e+07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3"/>
                  </a:ext>
                </a:extLst>
              </a:tr>
              <a:tr h="950274">
                <a:tc>
                  <a:txBody>
                    <a:bodyPr/>
                    <a:lstStyle/>
                    <a:p>
                      <a:pPr algn="ctr">
                        <a:lnSpc>
                          <a:spcPts val="2799"/>
                        </a:lnSpc>
                        <a:defRPr/>
                      </a:pPr>
                      <a:r>
                        <a:rPr lang="en-US" sz="1999">
                          <a:solidFill>
                            <a:srgbClr val="000000"/>
                          </a:solidFill>
                          <a:latin typeface="Open Sauce"/>
                        </a:rPr>
                        <a:t>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100"/>
                        </a:lnSpc>
                        <a:defRPr/>
                      </a:pPr>
                      <a:r>
                        <a:rPr lang="en-US" sz="1500">
                          <a:solidFill>
                            <a:srgbClr val="000000"/>
                          </a:solidFill>
                          <a:latin typeface="Open Sauce"/>
                        </a:rPr>
                        <a:t>Adaboost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0.586463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0.586452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3.338397e+06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4"/>
                  </a:ext>
                </a:extLst>
              </a:tr>
              <a:tr h="1197920">
                <a:tc>
                  <a:txBody>
                    <a:bodyPr/>
                    <a:lstStyle/>
                    <a:p>
                      <a:pPr algn="ctr">
                        <a:lnSpc>
                          <a:spcPts val="2799"/>
                        </a:lnSpc>
                        <a:defRPr/>
                      </a:pPr>
                      <a:r>
                        <a:rPr lang="en-US" sz="1999">
                          <a:solidFill>
                            <a:srgbClr val="000000"/>
                          </a:solidFill>
                          <a:latin typeface="Open Sauce"/>
                        </a:rPr>
                        <a:t>5</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Gradient Boost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0.959598</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0.959597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2.730634e+06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5"/>
                  </a:ext>
                </a:extLst>
              </a:tr>
              <a:tr h="950274">
                <a:tc>
                  <a:txBody>
                    <a:bodyPr/>
                    <a:lstStyle/>
                    <a:p>
                      <a:pPr algn="ctr">
                        <a:lnSpc>
                          <a:spcPts val="2799"/>
                        </a:lnSpc>
                        <a:defRPr/>
                      </a:pPr>
                      <a:r>
                        <a:rPr lang="en-US" sz="1999">
                          <a:solidFill>
                            <a:srgbClr val="000000"/>
                          </a:solidFill>
                          <a:latin typeface="Open Sauce"/>
                        </a:rPr>
                        <a:t>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RF-Regressor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0.995572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0.995571</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2.904997e+06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6"/>
                  </a:ext>
                </a:extLst>
              </a:tr>
              <a:tr h="950274">
                <a:tc>
                  <a:txBody>
                    <a:bodyPr/>
                    <a:lstStyle/>
                    <a:p>
                      <a:pPr algn="ctr">
                        <a:lnSpc>
                          <a:spcPts val="2799"/>
                        </a:lnSpc>
                        <a:defRPr/>
                      </a:pPr>
                      <a:r>
                        <a:rPr lang="en-US" sz="1999">
                          <a:solidFill>
                            <a:srgbClr val="000000"/>
                          </a:solidFill>
                          <a:latin typeface="Open Sauce"/>
                        </a:rPr>
                        <a:t>7</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XGB Regressor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0.974264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0.974263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3.338397e+06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7"/>
                  </a:ext>
                </a:extLst>
              </a:tr>
              <a:tr h="950274">
                <a:tc>
                  <a:txBody>
                    <a:bodyPr/>
                    <a:lstStyle/>
                    <a:p>
                      <a:pPr algn="ctr">
                        <a:lnSpc>
                          <a:spcPts val="2799"/>
                        </a:lnSpc>
                        <a:defRPr/>
                      </a:pPr>
                      <a:r>
                        <a:rPr lang="en-US" sz="1999">
                          <a:solidFill>
                            <a:srgbClr val="000000"/>
                          </a:solidFill>
                          <a:latin typeface="Open Sauce"/>
                        </a:rPr>
                        <a:t>8</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2379"/>
                        </a:lnSpc>
                        <a:defRPr/>
                      </a:pPr>
                      <a:r>
                        <a:rPr lang="en-US" sz="1699">
                          <a:solidFill>
                            <a:srgbClr val="000000"/>
                          </a:solidFill>
                          <a:latin typeface="Open Sauce"/>
                        </a:rPr>
                        <a:t>Feature Selection</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0.972635</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0.976893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379"/>
                        </a:lnSpc>
                        <a:defRPr/>
                      </a:pPr>
                      <a:r>
                        <a:rPr lang="en-US" sz="1699">
                          <a:solidFill>
                            <a:srgbClr val="000000"/>
                          </a:solidFill>
                          <a:latin typeface="Open Sauce"/>
                        </a:rPr>
                        <a:t>2.904997e+06</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8"/>
                  </a:ext>
                </a:extLst>
              </a:tr>
            </a:tbl>
          </a:graphicData>
        </a:graphic>
      </p:graphicFrame>
      <p:sp>
        <p:nvSpPr>
          <p:cNvPr id="5" name="TextBox 5"/>
          <p:cNvSpPr txBox="1"/>
          <p:nvPr/>
        </p:nvSpPr>
        <p:spPr>
          <a:xfrm>
            <a:off x="2788405" y="-114300"/>
            <a:ext cx="13428821" cy="1028688"/>
          </a:xfrm>
          <a:prstGeom prst="rect">
            <a:avLst/>
          </a:prstGeom>
        </p:spPr>
        <p:txBody>
          <a:bodyPr lIns="0" tIns="0" rIns="0" bIns="0" rtlCol="0" anchor="t">
            <a:spAutoFit/>
          </a:bodyPr>
          <a:lstStyle/>
          <a:p>
            <a:pPr algn="ctr">
              <a:lnSpc>
                <a:spcPts val="8400"/>
              </a:lnSpc>
            </a:pPr>
            <a:r>
              <a:rPr lang="en-US" sz="6000" dirty="0">
                <a:solidFill>
                  <a:srgbClr val="000000"/>
                </a:solidFill>
                <a:latin typeface="Canva Sans Bold"/>
              </a:rPr>
              <a:t>MODEL AFTER FEATURE SELECTION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0"/>
            <a:ext cx="18288000" cy="3086100"/>
            <a:chOff x="0" y="0"/>
            <a:chExt cx="4816593" cy="812800"/>
          </a:xfrm>
        </p:grpSpPr>
        <p:sp>
          <p:nvSpPr>
            <p:cNvPr id="4" name="Freeform 4"/>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1A1A1A"/>
            </a:solidFill>
          </p:spPr>
        </p:sp>
        <p:sp>
          <p:nvSpPr>
            <p:cNvPr id="5" name="TextBox 5"/>
            <p:cNvSpPr txBox="1"/>
            <p:nvPr/>
          </p:nvSpPr>
          <p:spPr>
            <a:xfrm>
              <a:off x="0" y="-19050"/>
              <a:ext cx="4816593"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3451022" y="-4729397"/>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Freeform 7"/>
          <p:cNvSpPr/>
          <p:nvPr/>
        </p:nvSpPr>
        <p:spPr>
          <a:xfrm>
            <a:off x="-2851369" y="-3442596"/>
            <a:ext cx="6709932" cy="6885191"/>
          </a:xfrm>
          <a:custGeom>
            <a:avLst/>
            <a:gdLst/>
            <a:ahLst/>
            <a:cxnLst/>
            <a:rect l="l" t="t" r="r" b="b"/>
            <a:pathLst>
              <a:path w="6709932" h="6885191">
                <a:moveTo>
                  <a:pt x="0" y="0"/>
                </a:moveTo>
                <a:lnTo>
                  <a:pt x="6709932" y="0"/>
                </a:lnTo>
                <a:lnTo>
                  <a:pt x="6709932" y="6885192"/>
                </a:lnTo>
                <a:lnTo>
                  <a:pt x="0" y="6885192"/>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8" name="Group 8"/>
          <p:cNvGrpSpPr/>
          <p:nvPr/>
        </p:nvGrpSpPr>
        <p:grpSpPr>
          <a:xfrm>
            <a:off x="2163000" y="3442596"/>
            <a:ext cx="4473739" cy="636748"/>
            <a:chOff x="0" y="0"/>
            <a:chExt cx="1178269" cy="167703"/>
          </a:xfrm>
        </p:grpSpPr>
        <p:sp>
          <p:nvSpPr>
            <p:cNvPr id="9" name="Freeform 9"/>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A1A1A"/>
            </a:solidFill>
          </p:spPr>
        </p:sp>
        <p:sp>
          <p:nvSpPr>
            <p:cNvPr id="10" name="TextBox 10"/>
            <p:cNvSpPr txBox="1"/>
            <p:nvPr/>
          </p:nvSpPr>
          <p:spPr>
            <a:xfrm>
              <a:off x="0" y="-57150"/>
              <a:ext cx="1178269" cy="224853"/>
            </a:xfrm>
            <a:prstGeom prst="rect">
              <a:avLst/>
            </a:prstGeom>
          </p:spPr>
          <p:txBody>
            <a:bodyPr lIns="50800" tIns="50800" rIns="50800" bIns="50800" rtlCol="0" anchor="ctr"/>
            <a:lstStyle/>
            <a:p>
              <a:pPr marL="0" lvl="0" indent="0" algn="ctr">
                <a:lnSpc>
                  <a:spcPts val="4114"/>
                </a:lnSpc>
                <a:spcBef>
                  <a:spcPct val="0"/>
                </a:spcBef>
              </a:pPr>
              <a:r>
                <a:rPr lang="en-US" sz="2981" spc="29">
                  <a:solidFill>
                    <a:srgbClr val="FFFFFF"/>
                  </a:solidFill>
                  <a:latin typeface="DM Sans Italics"/>
                </a:rPr>
                <a:t>Merrits</a:t>
              </a:r>
            </a:p>
          </p:txBody>
        </p:sp>
      </p:grpSp>
      <p:grpSp>
        <p:nvGrpSpPr>
          <p:cNvPr id="11" name="Group 11"/>
          <p:cNvGrpSpPr/>
          <p:nvPr/>
        </p:nvGrpSpPr>
        <p:grpSpPr>
          <a:xfrm>
            <a:off x="6893475" y="3510391"/>
            <a:ext cx="9034431" cy="2808103"/>
            <a:chOff x="0" y="0"/>
            <a:chExt cx="1744696" cy="542290"/>
          </a:xfrm>
        </p:grpSpPr>
        <p:sp>
          <p:nvSpPr>
            <p:cNvPr id="12" name="Freeform 12"/>
            <p:cNvSpPr/>
            <p:nvPr/>
          </p:nvSpPr>
          <p:spPr>
            <a:xfrm>
              <a:off x="0" y="0"/>
              <a:ext cx="1744696" cy="542290"/>
            </a:xfrm>
            <a:custGeom>
              <a:avLst/>
              <a:gdLst/>
              <a:ahLst/>
              <a:cxnLst/>
              <a:rect l="l" t="t" r="r" b="b"/>
              <a:pathLst>
                <a:path w="1744696" h="542290">
                  <a:moveTo>
                    <a:pt x="0" y="0"/>
                  </a:moveTo>
                  <a:lnTo>
                    <a:pt x="1744696" y="0"/>
                  </a:lnTo>
                  <a:lnTo>
                    <a:pt x="1744696" y="542290"/>
                  </a:lnTo>
                  <a:lnTo>
                    <a:pt x="0" y="542290"/>
                  </a:lnTo>
                  <a:close/>
                </a:path>
              </a:pathLst>
            </a:custGeom>
            <a:solidFill>
              <a:srgbClr val="000000">
                <a:alpha val="0"/>
              </a:srgbClr>
            </a:solidFill>
            <a:ln w="38100" cap="sq">
              <a:solidFill>
                <a:srgbClr val="000000"/>
              </a:solidFill>
              <a:prstDash val="solid"/>
              <a:miter/>
            </a:ln>
          </p:spPr>
        </p:sp>
        <p:sp>
          <p:nvSpPr>
            <p:cNvPr id="13" name="TextBox 13"/>
            <p:cNvSpPr txBox="1"/>
            <p:nvPr/>
          </p:nvSpPr>
          <p:spPr>
            <a:xfrm>
              <a:off x="0" y="-19050"/>
              <a:ext cx="1744696" cy="561340"/>
            </a:xfrm>
            <a:prstGeom prst="rect">
              <a:avLst/>
            </a:prstGeom>
          </p:spPr>
          <p:txBody>
            <a:bodyPr lIns="50800" tIns="50800" rIns="50800" bIns="50800" rtlCol="0" anchor="ctr"/>
            <a:lstStyle/>
            <a:p>
              <a:pPr algn="ctr">
                <a:lnSpc>
                  <a:spcPts val="2859"/>
                </a:lnSpc>
              </a:pPr>
              <a:endParaRPr/>
            </a:p>
          </p:txBody>
        </p:sp>
      </p:grpSp>
      <p:grpSp>
        <p:nvGrpSpPr>
          <p:cNvPr id="14" name="Group 14"/>
          <p:cNvGrpSpPr/>
          <p:nvPr/>
        </p:nvGrpSpPr>
        <p:grpSpPr>
          <a:xfrm>
            <a:off x="11410691" y="6504266"/>
            <a:ext cx="4473739" cy="636748"/>
            <a:chOff x="0" y="0"/>
            <a:chExt cx="1178269" cy="167703"/>
          </a:xfrm>
        </p:grpSpPr>
        <p:sp>
          <p:nvSpPr>
            <p:cNvPr id="15" name="Freeform 15"/>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A1A1A"/>
            </a:solidFill>
          </p:spPr>
        </p:sp>
        <p:sp>
          <p:nvSpPr>
            <p:cNvPr id="16" name="TextBox 16"/>
            <p:cNvSpPr txBox="1"/>
            <p:nvPr/>
          </p:nvSpPr>
          <p:spPr>
            <a:xfrm>
              <a:off x="0" y="-57150"/>
              <a:ext cx="1178269" cy="224853"/>
            </a:xfrm>
            <a:prstGeom prst="rect">
              <a:avLst/>
            </a:prstGeom>
          </p:spPr>
          <p:txBody>
            <a:bodyPr lIns="50800" tIns="50800" rIns="50800" bIns="50800" rtlCol="0" anchor="ctr"/>
            <a:lstStyle/>
            <a:p>
              <a:pPr marL="0" lvl="0" indent="0" algn="ctr">
                <a:lnSpc>
                  <a:spcPts val="4114"/>
                </a:lnSpc>
                <a:spcBef>
                  <a:spcPct val="0"/>
                </a:spcBef>
              </a:pPr>
              <a:r>
                <a:rPr lang="en-US" sz="2981" spc="29">
                  <a:solidFill>
                    <a:srgbClr val="FFFFFF"/>
                  </a:solidFill>
                  <a:latin typeface="DM Sans Italics"/>
                </a:rPr>
                <a:t>Demerits</a:t>
              </a:r>
            </a:p>
          </p:txBody>
        </p:sp>
      </p:grpSp>
      <p:grpSp>
        <p:nvGrpSpPr>
          <p:cNvPr id="17" name="Group 17"/>
          <p:cNvGrpSpPr/>
          <p:nvPr/>
        </p:nvGrpSpPr>
        <p:grpSpPr>
          <a:xfrm>
            <a:off x="2179166" y="6572062"/>
            <a:ext cx="9034431" cy="2808103"/>
            <a:chOff x="0" y="0"/>
            <a:chExt cx="1744696" cy="542290"/>
          </a:xfrm>
        </p:grpSpPr>
        <p:sp>
          <p:nvSpPr>
            <p:cNvPr id="18" name="Freeform 18"/>
            <p:cNvSpPr/>
            <p:nvPr/>
          </p:nvSpPr>
          <p:spPr>
            <a:xfrm>
              <a:off x="0" y="0"/>
              <a:ext cx="1744696" cy="542290"/>
            </a:xfrm>
            <a:custGeom>
              <a:avLst/>
              <a:gdLst/>
              <a:ahLst/>
              <a:cxnLst/>
              <a:rect l="l" t="t" r="r" b="b"/>
              <a:pathLst>
                <a:path w="1744696" h="542290">
                  <a:moveTo>
                    <a:pt x="0" y="0"/>
                  </a:moveTo>
                  <a:lnTo>
                    <a:pt x="1744696" y="0"/>
                  </a:lnTo>
                  <a:lnTo>
                    <a:pt x="1744696" y="542290"/>
                  </a:lnTo>
                  <a:lnTo>
                    <a:pt x="0" y="542290"/>
                  </a:lnTo>
                  <a:close/>
                </a:path>
              </a:pathLst>
            </a:custGeom>
            <a:solidFill>
              <a:srgbClr val="000000">
                <a:alpha val="0"/>
              </a:srgbClr>
            </a:solidFill>
            <a:ln w="38100" cap="sq">
              <a:solidFill>
                <a:srgbClr val="000000"/>
              </a:solidFill>
              <a:prstDash val="solid"/>
              <a:miter/>
            </a:ln>
          </p:spPr>
        </p:sp>
        <p:sp>
          <p:nvSpPr>
            <p:cNvPr id="19" name="TextBox 19"/>
            <p:cNvSpPr txBox="1"/>
            <p:nvPr/>
          </p:nvSpPr>
          <p:spPr>
            <a:xfrm>
              <a:off x="0" y="-19050"/>
              <a:ext cx="1744696" cy="561340"/>
            </a:xfrm>
            <a:prstGeom prst="rect">
              <a:avLst/>
            </a:prstGeom>
          </p:spPr>
          <p:txBody>
            <a:bodyPr lIns="50800" tIns="50800" rIns="50800" bIns="50800" rtlCol="0" anchor="ctr"/>
            <a:lstStyle/>
            <a:p>
              <a:pPr algn="ctr">
                <a:lnSpc>
                  <a:spcPts val="2859"/>
                </a:lnSpc>
              </a:pPr>
              <a:endParaRPr/>
            </a:p>
          </p:txBody>
        </p:sp>
      </p:grpSp>
      <p:sp>
        <p:nvSpPr>
          <p:cNvPr id="20" name="Freeform 20"/>
          <p:cNvSpPr/>
          <p:nvPr/>
        </p:nvSpPr>
        <p:spPr>
          <a:xfrm>
            <a:off x="2163000" y="4095823"/>
            <a:ext cx="4473739" cy="2222672"/>
          </a:xfrm>
          <a:custGeom>
            <a:avLst/>
            <a:gdLst/>
            <a:ahLst/>
            <a:cxnLst/>
            <a:rect l="l" t="t" r="r" b="b"/>
            <a:pathLst>
              <a:path w="4473739" h="2222672">
                <a:moveTo>
                  <a:pt x="0" y="0"/>
                </a:moveTo>
                <a:lnTo>
                  <a:pt x="4473739" y="0"/>
                </a:lnTo>
                <a:lnTo>
                  <a:pt x="4473739" y="2222672"/>
                </a:lnTo>
                <a:lnTo>
                  <a:pt x="0" y="2222672"/>
                </a:lnTo>
                <a:lnTo>
                  <a:pt x="0" y="0"/>
                </a:lnTo>
                <a:close/>
              </a:path>
            </a:pathLst>
          </a:custGeom>
          <a:blipFill>
            <a:blip r:embed="rId5"/>
            <a:stretch>
              <a:fillRect t="-14061" b="-14061"/>
            </a:stretch>
          </a:blipFill>
        </p:spPr>
      </p:sp>
      <p:sp>
        <p:nvSpPr>
          <p:cNvPr id="21" name="Freeform 21"/>
          <p:cNvSpPr/>
          <p:nvPr/>
        </p:nvSpPr>
        <p:spPr>
          <a:xfrm>
            <a:off x="11410691" y="7141014"/>
            <a:ext cx="4473739" cy="2239151"/>
          </a:xfrm>
          <a:custGeom>
            <a:avLst/>
            <a:gdLst/>
            <a:ahLst/>
            <a:cxnLst/>
            <a:rect l="l" t="t" r="r" b="b"/>
            <a:pathLst>
              <a:path w="4473739" h="2239151">
                <a:moveTo>
                  <a:pt x="0" y="0"/>
                </a:moveTo>
                <a:lnTo>
                  <a:pt x="4473739" y="0"/>
                </a:lnTo>
                <a:lnTo>
                  <a:pt x="4473739" y="2239152"/>
                </a:lnTo>
                <a:lnTo>
                  <a:pt x="0" y="2239152"/>
                </a:lnTo>
                <a:lnTo>
                  <a:pt x="0" y="0"/>
                </a:lnTo>
                <a:close/>
              </a:path>
            </a:pathLst>
          </a:custGeom>
          <a:blipFill>
            <a:blip r:embed="rId6"/>
            <a:stretch>
              <a:fillRect t="-4941" b="-9796"/>
            </a:stretch>
          </a:blipFill>
        </p:spPr>
      </p:sp>
      <p:sp>
        <p:nvSpPr>
          <p:cNvPr id="22" name="TextBox 22"/>
          <p:cNvSpPr txBox="1"/>
          <p:nvPr/>
        </p:nvSpPr>
        <p:spPr>
          <a:xfrm>
            <a:off x="3690980" y="1232286"/>
            <a:ext cx="10906040" cy="1349947"/>
          </a:xfrm>
          <a:prstGeom prst="rect">
            <a:avLst/>
          </a:prstGeom>
        </p:spPr>
        <p:txBody>
          <a:bodyPr lIns="0" tIns="0" rIns="0" bIns="0" rtlCol="0" anchor="t">
            <a:spAutoFit/>
          </a:bodyPr>
          <a:lstStyle/>
          <a:p>
            <a:pPr algn="ctr">
              <a:lnSpc>
                <a:spcPts val="11082"/>
              </a:lnSpc>
            </a:pPr>
            <a:r>
              <a:rPr lang="en-US" sz="8030" spc="786">
                <a:solidFill>
                  <a:srgbClr val="FFFFFF"/>
                </a:solidFill>
                <a:latin typeface="Oswald Bold"/>
              </a:rPr>
              <a:t>CONCLUSION</a:t>
            </a:r>
          </a:p>
        </p:txBody>
      </p:sp>
      <p:sp>
        <p:nvSpPr>
          <p:cNvPr id="23" name="TextBox 23"/>
          <p:cNvSpPr txBox="1"/>
          <p:nvPr/>
        </p:nvSpPr>
        <p:spPr>
          <a:xfrm>
            <a:off x="7027573" y="4045207"/>
            <a:ext cx="8900334" cy="1700372"/>
          </a:xfrm>
          <a:prstGeom prst="rect">
            <a:avLst/>
          </a:prstGeom>
        </p:spPr>
        <p:txBody>
          <a:bodyPr lIns="0" tIns="0" rIns="0" bIns="0" rtlCol="0" anchor="t">
            <a:spAutoFit/>
          </a:bodyPr>
          <a:lstStyle/>
          <a:p>
            <a:pPr marL="427768" lvl="1" indent="-213884">
              <a:lnSpc>
                <a:spcPts val="2734"/>
              </a:lnSpc>
              <a:buFont typeface="Arial"/>
              <a:buChar char="•"/>
            </a:pPr>
            <a:r>
              <a:rPr lang="en-US" sz="1981" spc="194" dirty="0">
                <a:solidFill>
                  <a:srgbClr val="231F20"/>
                </a:solidFill>
                <a:latin typeface="DM Sans"/>
              </a:rPr>
              <a:t>The </a:t>
            </a:r>
            <a:r>
              <a:rPr lang="en-US" sz="1981" spc="194" dirty="0" err="1">
                <a:solidFill>
                  <a:srgbClr val="231F20"/>
                </a:solidFill>
                <a:latin typeface="DM Sans"/>
              </a:rPr>
              <a:t>XGBoost</a:t>
            </a:r>
            <a:r>
              <a:rPr lang="en-US" sz="1981" spc="194" dirty="0">
                <a:solidFill>
                  <a:srgbClr val="231F20"/>
                </a:solidFill>
                <a:latin typeface="DM Sans"/>
              </a:rPr>
              <a:t> model delivered a solid performance, slightly underperforming compared to gradient boosting, with an MSE of 2.904997e+06 on the dataset. </a:t>
            </a:r>
            <a:r>
              <a:rPr lang="en-US" sz="1981" spc="194" dirty="0" err="1">
                <a:solidFill>
                  <a:srgbClr val="231F20"/>
                </a:solidFill>
                <a:latin typeface="DM Sans"/>
              </a:rPr>
              <a:t>XGBoost</a:t>
            </a:r>
            <a:r>
              <a:rPr lang="en-US" sz="1981" spc="194" dirty="0">
                <a:solidFill>
                  <a:srgbClr val="231F20"/>
                </a:solidFill>
                <a:latin typeface="DM Sans"/>
              </a:rPr>
              <a:t> is known for handling various data types well, which supports its good performance here.</a:t>
            </a:r>
          </a:p>
        </p:txBody>
      </p:sp>
      <p:sp>
        <p:nvSpPr>
          <p:cNvPr id="24" name="TextBox 24"/>
          <p:cNvSpPr txBox="1"/>
          <p:nvPr/>
        </p:nvSpPr>
        <p:spPr>
          <a:xfrm>
            <a:off x="2440166" y="7102914"/>
            <a:ext cx="8512431" cy="1700372"/>
          </a:xfrm>
          <a:prstGeom prst="rect">
            <a:avLst/>
          </a:prstGeom>
        </p:spPr>
        <p:txBody>
          <a:bodyPr lIns="0" tIns="0" rIns="0" bIns="0" rtlCol="0" anchor="t">
            <a:spAutoFit/>
          </a:bodyPr>
          <a:lstStyle/>
          <a:p>
            <a:pPr marL="427768" lvl="1" indent="-213884">
              <a:lnSpc>
                <a:spcPts val="2734"/>
              </a:lnSpc>
              <a:buFont typeface="Arial"/>
              <a:buChar char="•"/>
            </a:pPr>
            <a:r>
              <a:rPr lang="en-US" sz="1981" spc="194">
                <a:solidFill>
                  <a:srgbClr val="231F20"/>
                </a:solidFill>
                <a:latin typeface="DM Sans"/>
              </a:rPr>
              <a:t>Although XGBoost is resistant to overfitting compared to traditional gradient boosting methods, it can still overfit if not properly tuned. Careful hyperparameter tuning and regularization techniques are necessary to mitigate overfitting and improve model generalization.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10580377">
            <a:off x="9407140" y="-9309963"/>
            <a:ext cx="24036383" cy="24664199"/>
          </a:xfrm>
          <a:custGeom>
            <a:avLst/>
            <a:gdLst/>
            <a:ahLst/>
            <a:cxnLst/>
            <a:rect l="l" t="t" r="r" b="b"/>
            <a:pathLst>
              <a:path w="24036383" h="24664199">
                <a:moveTo>
                  <a:pt x="0" y="0"/>
                </a:moveTo>
                <a:lnTo>
                  <a:pt x="24036383" y="0"/>
                </a:lnTo>
                <a:lnTo>
                  <a:pt x="24036383" y="24664198"/>
                </a:lnTo>
                <a:lnTo>
                  <a:pt x="0" y="24664198"/>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561733" y="2105045"/>
            <a:ext cx="8097687" cy="3241963"/>
          </a:xfrm>
          <a:prstGeom prst="rect">
            <a:avLst/>
          </a:prstGeom>
        </p:spPr>
        <p:txBody>
          <a:bodyPr lIns="0" tIns="0" rIns="0" bIns="0" rtlCol="0" anchor="t">
            <a:spAutoFit/>
          </a:bodyPr>
          <a:lstStyle/>
          <a:p>
            <a:pPr marL="0" lvl="0" indent="0">
              <a:lnSpc>
                <a:spcPts val="13015"/>
              </a:lnSpc>
              <a:spcBef>
                <a:spcPct val="0"/>
              </a:spcBef>
            </a:pPr>
            <a:r>
              <a:rPr lang="en-US" sz="9431" spc="924">
                <a:solidFill>
                  <a:srgbClr val="231F20"/>
                </a:solidFill>
                <a:latin typeface="Oswald Bold"/>
              </a:rPr>
              <a:t>THANK'S FOR WATCHING</a:t>
            </a:r>
          </a:p>
        </p:txBody>
      </p:sp>
      <p:sp>
        <p:nvSpPr>
          <p:cNvPr id="5" name="Freeform 5"/>
          <p:cNvSpPr/>
          <p:nvPr/>
        </p:nvSpPr>
        <p:spPr>
          <a:xfrm flipH="1">
            <a:off x="-4254153" y="7476061"/>
            <a:ext cx="11881594" cy="3564478"/>
          </a:xfrm>
          <a:custGeom>
            <a:avLst/>
            <a:gdLst/>
            <a:ahLst/>
            <a:cxnLst/>
            <a:rect l="l" t="t" r="r" b="b"/>
            <a:pathLst>
              <a:path w="11881594" h="3564478">
                <a:moveTo>
                  <a:pt x="11881594" y="0"/>
                </a:moveTo>
                <a:lnTo>
                  <a:pt x="0" y="0"/>
                </a:lnTo>
                <a:lnTo>
                  <a:pt x="0" y="3564478"/>
                </a:lnTo>
                <a:lnTo>
                  <a:pt x="11881594" y="3564478"/>
                </a:lnTo>
                <a:lnTo>
                  <a:pt x="11881594" y="0"/>
                </a:lnTo>
                <a:close/>
              </a:path>
            </a:pathLst>
          </a:custGeom>
          <a:blipFill>
            <a:blip r:embed="rId5">
              <a:extLst>
                <a:ext uri="{96DAC541-7B7A-43D3-8B79-37D633B846F1}">
                  <asvg:svgBlip xmlns="" xmlns:asvg="http://schemas.microsoft.com/office/drawing/2016/SVG/main" r:embed="rId6"/>
                </a:ext>
              </a:extLst>
            </a:blip>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379</Words>
  <Application>Microsoft Office PowerPoint</Application>
  <PresentationFormat>Custom</PresentationFormat>
  <Paragraphs>181</Paragraphs>
  <Slides>18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Open Sauce Bold</vt:lpstr>
      <vt:lpstr>DM Sans Bold</vt:lpstr>
      <vt:lpstr>DM Sans</vt:lpstr>
      <vt:lpstr>Oswald Bold</vt:lpstr>
      <vt:lpstr>Oswald Bold Italics</vt:lpstr>
      <vt:lpstr>Open Sauce</vt:lpstr>
      <vt:lpstr>Calibri</vt:lpstr>
      <vt:lpstr>DM Sans Italics</vt:lpstr>
      <vt:lpstr>Alice Bold</vt:lpstr>
      <vt:lpstr>Arial</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business project presentation </dc:title>
  <cp:lastModifiedBy>Varun Das</cp:lastModifiedBy>
  <cp:revision>11</cp:revision>
  <dcterms:created xsi:type="dcterms:W3CDTF">2006-08-16T00:00:00Z</dcterms:created>
  <dcterms:modified xsi:type="dcterms:W3CDTF">2024-03-18T13:20:34Z</dcterms:modified>
  <dc:identifier>DAF_1EULgcA</dc:identifier>
</cp:coreProperties>
</file>